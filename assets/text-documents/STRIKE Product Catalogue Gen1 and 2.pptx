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Lato" panose="020F0502020204030203" pitchFamily="34" charset="0"/>
      <p:regular r:id="rId25"/>
      <p:bold r:id="rId26"/>
      <p:italic r:id="rId27"/>
    </p:embeddedFont>
    <p:embeddedFont>
      <p:font typeface="Poppins" panose="00000500000000000000" pitchFamily="2" charset="0"/>
      <p:regular r:id="rId28"/>
      <p:bold r:id="rId29"/>
      <p:italic r:id="rId30"/>
    </p:embeddedFont>
    <p:embeddedFont>
      <p:font typeface="Poppins ExtraBold" panose="00000900000000000000" pitchFamily="2" charset="0"/>
      <p:bold r:id="rId31"/>
    </p:embeddedFont>
    <p:embeddedFont>
      <p:font typeface="Poppins Medium" panose="00000600000000000000" pitchFamily="2" charset="0"/>
      <p:regular r:id="rId32"/>
    </p:embeddedFont>
    <p:embeddedFont>
      <p:font typeface="Poppins SemiBold" panose="00000700000000000000" pitchFamily="2" charset="0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Sharma" userId="3f79d9e1-a0cc-4b53-a092-53394bb453f1" providerId="ADAL" clId="{7A7DA151-A98D-415E-A11B-0864F139B981}"/>
    <pc:docChg chg="modSld">
      <pc:chgData name="Jayesh Sharma" userId="3f79d9e1-a0cc-4b53-a092-53394bb453f1" providerId="ADAL" clId="{7A7DA151-A98D-415E-A11B-0864F139B981}" dt="2026-10-17T13:29:31.881" v="36" actId="6549"/>
      <pc:docMkLst>
        <pc:docMk/>
      </pc:docMkLst>
      <pc:sldChg chg="modSp mod">
        <pc:chgData name="Jayesh Sharma" userId="3f79d9e1-a0cc-4b53-a092-53394bb453f1" providerId="ADAL" clId="{7A7DA151-A98D-415E-A11B-0864F139B981}" dt="2026-10-17T13:19:59.750" v="2" actId="20577"/>
        <pc:sldMkLst>
          <pc:docMk/>
          <pc:sldMk cId="0" sldId="260"/>
        </pc:sldMkLst>
        <pc:spChg chg="mod">
          <ac:chgData name="Jayesh Sharma" userId="3f79d9e1-a0cc-4b53-a092-53394bb453f1" providerId="ADAL" clId="{7A7DA151-A98D-415E-A11B-0864F139B981}" dt="2026-10-17T13:19:59.750" v="2" actId="20577"/>
          <ac:spMkLst>
            <pc:docMk/>
            <pc:sldMk cId="0" sldId="260"/>
            <ac:spMk id="169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06.022" v="5" actId="20577"/>
        <pc:sldMkLst>
          <pc:docMk/>
          <pc:sldMk cId="0" sldId="263"/>
        </pc:sldMkLst>
        <pc:spChg chg="mod">
          <ac:chgData name="Jayesh Sharma" userId="3f79d9e1-a0cc-4b53-a092-53394bb453f1" providerId="ADAL" clId="{7A7DA151-A98D-415E-A11B-0864F139B981}" dt="2026-10-17T13:20:06.022" v="5" actId="20577"/>
          <ac:spMkLst>
            <pc:docMk/>
            <pc:sldMk cId="0" sldId="263"/>
            <ac:spMk id="281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11.690" v="10" actId="20577"/>
        <pc:sldMkLst>
          <pc:docMk/>
          <pc:sldMk cId="0" sldId="264"/>
        </pc:sldMkLst>
        <pc:spChg chg="mod">
          <ac:chgData name="Jayesh Sharma" userId="3f79d9e1-a0cc-4b53-a092-53394bb453f1" providerId="ADAL" clId="{7A7DA151-A98D-415E-A11B-0864F139B981}" dt="2026-10-17T13:20:11.690" v="10" actId="20577"/>
          <ac:spMkLst>
            <pc:docMk/>
            <pc:sldMk cId="0" sldId="264"/>
            <ac:spMk id="306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14.829" v="12" actId="20577"/>
        <pc:sldMkLst>
          <pc:docMk/>
          <pc:sldMk cId="0" sldId="265"/>
        </pc:sldMkLst>
        <pc:spChg chg="mod">
          <ac:chgData name="Jayesh Sharma" userId="3f79d9e1-a0cc-4b53-a092-53394bb453f1" providerId="ADAL" clId="{7A7DA151-A98D-415E-A11B-0864F139B981}" dt="2026-10-17T13:20:14.829" v="12" actId="20577"/>
          <ac:spMkLst>
            <pc:docMk/>
            <pc:sldMk cId="0" sldId="265"/>
            <ac:spMk id="328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18.316" v="14" actId="20577"/>
        <pc:sldMkLst>
          <pc:docMk/>
          <pc:sldMk cId="0" sldId="266"/>
        </pc:sldMkLst>
        <pc:spChg chg="mod">
          <ac:chgData name="Jayesh Sharma" userId="3f79d9e1-a0cc-4b53-a092-53394bb453f1" providerId="ADAL" clId="{7A7DA151-A98D-415E-A11B-0864F139B981}" dt="2026-10-17T13:20:18.316" v="14" actId="20577"/>
          <ac:spMkLst>
            <pc:docMk/>
            <pc:sldMk cId="0" sldId="266"/>
            <ac:spMk id="351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22.161" v="16" actId="20577"/>
        <pc:sldMkLst>
          <pc:docMk/>
          <pc:sldMk cId="0" sldId="267"/>
        </pc:sldMkLst>
        <pc:spChg chg="mod">
          <ac:chgData name="Jayesh Sharma" userId="3f79d9e1-a0cc-4b53-a092-53394bb453f1" providerId="ADAL" clId="{7A7DA151-A98D-415E-A11B-0864F139B981}" dt="2026-10-17T13:20:22.161" v="16" actId="20577"/>
          <ac:spMkLst>
            <pc:docMk/>
            <pc:sldMk cId="0" sldId="267"/>
            <ac:spMk id="363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25.711" v="19" actId="20577"/>
        <pc:sldMkLst>
          <pc:docMk/>
          <pc:sldMk cId="0" sldId="268"/>
        </pc:sldMkLst>
        <pc:spChg chg="mod">
          <ac:chgData name="Jayesh Sharma" userId="3f79d9e1-a0cc-4b53-a092-53394bb453f1" providerId="ADAL" clId="{7A7DA151-A98D-415E-A11B-0864F139B981}" dt="2026-10-17T13:20:25.711" v="19" actId="20577"/>
          <ac:spMkLst>
            <pc:docMk/>
            <pc:sldMk cId="0" sldId="268"/>
            <ac:spMk id="377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9:31.881" v="36" actId="6549"/>
        <pc:sldMkLst>
          <pc:docMk/>
          <pc:sldMk cId="0" sldId="269"/>
        </pc:sldMkLst>
        <pc:spChg chg="mod">
          <ac:chgData name="Jayesh Sharma" userId="3f79d9e1-a0cc-4b53-a092-53394bb453f1" providerId="ADAL" clId="{7A7DA151-A98D-415E-A11B-0864F139B981}" dt="2026-10-17T13:29:25.099" v="30" actId="6549"/>
          <ac:spMkLst>
            <pc:docMk/>
            <pc:sldMk cId="0" sldId="269"/>
            <ac:spMk id="395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26.227" v="31" actId="6549"/>
          <ac:spMkLst>
            <pc:docMk/>
            <pc:sldMk cId="0" sldId="269"/>
            <ac:spMk id="400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27.259" v="32" actId="6549"/>
          <ac:spMkLst>
            <pc:docMk/>
            <pc:sldMk cId="0" sldId="269"/>
            <ac:spMk id="405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28.389" v="33" actId="6549"/>
          <ac:spMkLst>
            <pc:docMk/>
            <pc:sldMk cId="0" sldId="269"/>
            <ac:spMk id="410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29.552" v="34" actId="6549"/>
          <ac:spMkLst>
            <pc:docMk/>
            <pc:sldMk cId="0" sldId="269"/>
            <ac:spMk id="418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30.652" v="35" actId="6549"/>
          <ac:spMkLst>
            <pc:docMk/>
            <pc:sldMk cId="0" sldId="269"/>
            <ac:spMk id="423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31.881" v="36" actId="6549"/>
          <ac:spMkLst>
            <pc:docMk/>
            <pc:sldMk cId="0" sldId="269"/>
            <ac:spMk id="428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17.924" v="26" actId="6549"/>
          <ac:spMkLst>
            <pc:docMk/>
            <pc:sldMk cId="0" sldId="269"/>
            <ac:spMk id="436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19.245" v="27" actId="6549"/>
          <ac:spMkLst>
            <pc:docMk/>
            <pc:sldMk cId="0" sldId="269"/>
            <ac:spMk id="441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20.236" v="28" actId="6549"/>
          <ac:spMkLst>
            <pc:docMk/>
            <pc:sldMk cId="0" sldId="269"/>
            <ac:spMk id="446" creationId="{00000000-0000-0000-0000-000000000000}"/>
          </ac:spMkLst>
        </pc:spChg>
        <pc:spChg chg="mod">
          <ac:chgData name="Jayesh Sharma" userId="3f79d9e1-a0cc-4b53-a092-53394bb453f1" providerId="ADAL" clId="{7A7DA151-A98D-415E-A11B-0864F139B981}" dt="2026-10-17T13:29:22.878" v="29" actId="6549"/>
          <ac:spMkLst>
            <pc:docMk/>
            <pc:sldMk cId="0" sldId="269"/>
            <ac:spMk id="451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33.441" v="21" actId="20577"/>
        <pc:sldMkLst>
          <pc:docMk/>
          <pc:sldMk cId="0" sldId="271"/>
        </pc:sldMkLst>
        <pc:spChg chg="mod">
          <ac:chgData name="Jayesh Sharma" userId="3f79d9e1-a0cc-4b53-a092-53394bb453f1" providerId="ADAL" clId="{7A7DA151-A98D-415E-A11B-0864F139B981}" dt="2026-10-17T13:20:33.441" v="21" actId="20577"/>
          <ac:spMkLst>
            <pc:docMk/>
            <pc:sldMk cId="0" sldId="271"/>
            <ac:spMk id="517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36.333" v="23" actId="20577"/>
        <pc:sldMkLst>
          <pc:docMk/>
          <pc:sldMk cId="0" sldId="273"/>
        </pc:sldMkLst>
        <pc:spChg chg="mod">
          <ac:chgData name="Jayesh Sharma" userId="3f79d9e1-a0cc-4b53-a092-53394bb453f1" providerId="ADAL" clId="{7A7DA151-A98D-415E-A11B-0864F139B981}" dt="2026-10-17T13:20:36.333" v="23" actId="20577"/>
          <ac:spMkLst>
            <pc:docMk/>
            <pc:sldMk cId="0" sldId="273"/>
            <ac:spMk id="553" creationId="{00000000-0000-0000-0000-000000000000}"/>
          </ac:spMkLst>
        </pc:spChg>
      </pc:sldChg>
      <pc:sldChg chg="modSp mod">
        <pc:chgData name="Jayesh Sharma" userId="3f79d9e1-a0cc-4b53-a092-53394bb453f1" providerId="ADAL" clId="{7A7DA151-A98D-415E-A11B-0864F139B981}" dt="2026-10-17T13:20:39.077" v="25" actId="20577"/>
        <pc:sldMkLst>
          <pc:docMk/>
          <pc:sldMk cId="0" sldId="274"/>
        </pc:sldMkLst>
        <pc:spChg chg="mod">
          <ac:chgData name="Jayesh Sharma" userId="3f79d9e1-a0cc-4b53-a092-53394bb453f1" providerId="ADAL" clId="{7A7DA151-A98D-415E-A11B-0864F139B981}" dt="2026-10-17T13:20:39.077" v="25" actId="20577"/>
          <ac:spMkLst>
            <pc:docMk/>
            <pc:sldMk cId="0" sldId="274"/>
            <ac:spMk id="59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557b90389_0_2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f557b90389_0_2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557b90389_0_2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f557b90389_0_2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543082495_0_2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f543082495_0_2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557b90389_0_2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g3f557b90389_0_2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54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15.png"/><Relationship Id="rId1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hyperlink" Target="mailto:emailANMAYDEFENCE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762000" y="762000"/>
            <a:ext cx="57300" cy="1047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09650" y="762000"/>
            <a:ext cx="47625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S.T.R.I.K.E.</a:t>
            </a:r>
            <a:endParaRPr sz="4400" b="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AI-Powered Counter-UAS Platform Family</a:t>
            </a:r>
            <a:endParaRPr sz="1500" b="0">
              <a:solidFill>
                <a:srgbClr val="2563E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87" name="Google Shape;87;p13"/>
          <p:cNvGrpSpPr/>
          <p:nvPr/>
        </p:nvGrpSpPr>
        <p:grpSpPr>
          <a:xfrm>
            <a:off x="762000" y="2095500"/>
            <a:ext cx="4953000" cy="2476500"/>
            <a:chOff x="0" y="0"/>
            <a:chExt cx="4953000" cy="24765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9530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0"/>
              <a:ext cx="4953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Platform Capability Definition</a:t>
              </a:r>
              <a:endParaRPr sz="11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mart </a:t>
              </a:r>
              <a:r>
                <a:rPr lang="en-US" sz="24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argeting,</a:t>
              </a:r>
              <a:endParaRPr sz="2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econnaissance </a:t>
              </a:r>
              <a:r>
                <a:rPr lang="en-US" sz="1500" b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and</a:t>
              </a:r>
              <a:endParaRPr sz="2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ntelligent </a:t>
              </a:r>
              <a:r>
                <a:rPr lang="en-US" sz="24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K</a:t>
              </a: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ill </a:t>
              </a:r>
              <a:r>
                <a:rPr lang="en-US" sz="24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ngagement</a:t>
              </a:r>
              <a:endParaRPr sz="2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62000" y="4857750"/>
            <a:ext cx="4953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95250" rIns="95250" bIns="95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Designed &amp; Developed By</a:t>
            </a:r>
            <a:endParaRPr sz="1000" b="1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ANMAY DEFENCE</a:t>
            </a:r>
            <a:endParaRPr sz="2400" b="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 b="0" i="1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Engineering the Future of Autonomous Airspace Security</a:t>
            </a:r>
            <a:endParaRPr sz="1250" b="0" i="1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112150" y="514200"/>
            <a:ext cx="5795700" cy="5848800"/>
          </a:xfrm>
          <a:prstGeom prst="roundRect">
            <a:avLst>
              <a:gd name="adj" fmla="val 2962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l="3583" r="3592"/>
          <a:stretch/>
        </p:blipFill>
        <p:spPr>
          <a:xfrm>
            <a:off x="5962500" y="438000"/>
            <a:ext cx="5848800" cy="5848800"/>
          </a:xfrm>
          <a:prstGeom prst="roundRect">
            <a:avLst>
              <a:gd name="adj" fmla="val 296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33537"/>
            <a:ext cx="5238750" cy="45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33537"/>
            <a:ext cx="5238750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About Anmay Defence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20240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Who We Are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2614595"/>
            <a:ext cx="44577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Anmay Defence, a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brand name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 Anmay Autonomous Systems Pvt. Ltd., develops indigenous AI-powered autonomous defence technologies designed to enhance airspace security through intelligent surveillance, autonomous tracking, and modular counter-UAS platforms.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20240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Core Areas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05650" y="261461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Counter-UAS Systems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105650" y="3062287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Artificial Intelligence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05650" y="350996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Embedded Electronics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05650" y="3957637"/>
            <a:ext cx="412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Autonomous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05650" y="440531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 Vision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05650" y="4852987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Defence Communication Systems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05650" y="530066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Electronic Warfare Integration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2647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30956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3543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39909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44386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48863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53340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Modern Drone Threat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2016450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Today's battlefields are rapidly evolving with the widespread use of commercial and military unmanned aerial systems. Conventional surveillance solutions often struggle against low-altitude, high-speed, and swarm drone attacks.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3705225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Challenges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1338" y="1895475"/>
            <a:ext cx="5159424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904875" y="42291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Swarm Attacks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04875" y="4676775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 Altitude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04875" y="51244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Small Radar CS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714750" y="42291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Autonomous Nav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714750" y="4676775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 Range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714750" y="51244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Electronic Warfare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62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10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1577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81375" y="42624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81375" y="4710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81375" y="5157787"/>
            <a:ext cx="2381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STRIKE Product Family</a:t>
            </a:r>
            <a:endParaRPr dirty="0"/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6"/>
          <p:cNvGrpSpPr/>
          <p:nvPr/>
        </p:nvGrpSpPr>
        <p:grpSpPr>
          <a:xfrm>
            <a:off x="571500" y="1714500"/>
            <a:ext cx="3429000" cy="4374547"/>
            <a:chOff x="0" y="0"/>
            <a:chExt cx="3429000" cy="40005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0"/>
              <a:ext cx="3429000" cy="114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228600" y="304800"/>
              <a:ext cx="2971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Generation 01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STRIKE Gen1</a:t>
              </a:r>
              <a:endParaRPr sz="21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1-Layer Defence Protection System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AI Vision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Autonomous Tracking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Deployment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Modular Architecture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360° Surveillance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Deployment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Static &amp; Vehicle Mounting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3" name="Google Shape;153;p16"/>
          <p:cNvGrpSpPr/>
          <p:nvPr/>
        </p:nvGrpSpPr>
        <p:grpSpPr>
          <a:xfrm>
            <a:off x="4381500" y="1714500"/>
            <a:ext cx="3429000" cy="4398950"/>
            <a:chOff x="0" y="0"/>
            <a:chExt cx="3429000" cy="4000500"/>
          </a:xfrm>
        </p:grpSpPr>
        <p:sp>
          <p:nvSpPr>
            <p:cNvPr id="154" name="Google Shape;154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0" y="0"/>
              <a:ext cx="3429000" cy="114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228600" y="304800"/>
              <a:ext cx="2971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Generation 02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STRIKE Gen2</a:t>
              </a:r>
              <a:endParaRPr sz="21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2-Layer Defence Protection System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Gen 1 capabilities plus:</a:t>
              </a:r>
              <a:endParaRPr sz="1350" b="1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Extended Detection Range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Day &amp; Night Vision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LiDAR-Assisted Target Identification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Integrated Electronic Warfare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Long-Range Operations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5 km Optical Fiber Control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2 km Wireless Video Transmission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7" name="Google Shape;157;p16"/>
          <p:cNvGrpSpPr/>
          <p:nvPr/>
        </p:nvGrpSpPr>
        <p:grpSpPr>
          <a:xfrm>
            <a:off x="8191500" y="1714500"/>
            <a:ext cx="3429000" cy="4374547"/>
            <a:chOff x="0" y="0"/>
            <a:chExt cx="3429000" cy="4000500"/>
          </a:xfrm>
        </p:grpSpPr>
        <p:sp>
          <p:nvSpPr>
            <p:cNvPr id="158" name="Google Shape;158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0" y="0"/>
              <a:ext cx="3429000" cy="114300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228600" y="304800"/>
              <a:ext cx="2971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Generation 03</a:t>
              </a:r>
              <a:endParaRPr sz="12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100" b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Future Generations</a:t>
              </a:r>
              <a:endParaRPr sz="21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50" b="0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Gen 2 + Next-Gen Architectures</a:t>
              </a:r>
              <a:endParaRPr sz="1350" b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Directed energy integration</a:t>
              </a:r>
              <a:endParaRPr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Swarm defeat logic</a:t>
              </a:r>
              <a:endParaRPr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Full autonomous networks</a:t>
              </a:r>
              <a:endParaRPr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Compatible with moving vehicle </a:t>
              </a:r>
              <a:endParaRPr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4325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Drone Integration from Long range Surveillance </a:t>
              </a:r>
              <a:endParaRPr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endParaRPr sz="21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800" i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Currently in Research &amp; Development Stage</a:t>
              </a:r>
              <a:endParaRPr sz="1050" i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571500" y="571500"/>
            <a:ext cx="520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STRIKE </a:t>
            </a:r>
            <a:r>
              <a:rPr lang="en-US" sz="4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Gen1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1696762"/>
            <a:ext cx="25302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Platform Overview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224075"/>
            <a:ext cx="4887300" cy="3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STRIKE Gen 1 represents the next generation of indigenous Counter-UAS technology, combining AI-driven situational awareness, autonomous target tracking, precision engagement, and modular mission configurations within a scalable </a:t>
            </a:r>
            <a:r>
              <a:rPr lang="en-US" sz="16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defence</a:t>
            </a:r>
            <a:r>
              <a:rPr lang="en-US" sz="16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platform. Built on an open and upgradeable architecture, STRIKE Gen 1 enables the seamless integration of advanced sensors, electronic warfare systems, and future mission capabilities to meet evolving operational requirements.</a:t>
            </a:r>
            <a:endParaRPr sz="1500" dirty="0"/>
          </a:p>
        </p:txBody>
      </p:sp>
      <p:grpSp>
        <p:nvGrpSpPr>
          <p:cNvPr id="168" name="Google Shape;168;p17"/>
          <p:cNvGrpSpPr/>
          <p:nvPr/>
        </p:nvGrpSpPr>
        <p:grpSpPr>
          <a:xfrm>
            <a:off x="633825" y="5849800"/>
            <a:ext cx="4762650" cy="762000"/>
            <a:chOff x="190500" y="142875"/>
            <a:chExt cx="4762650" cy="762000"/>
          </a:xfrm>
        </p:grpSpPr>
        <p:sp>
          <p:nvSpPr>
            <p:cNvPr id="169" name="Google Shape;169;p17"/>
            <p:cNvSpPr txBox="1"/>
            <p:nvPr/>
          </p:nvSpPr>
          <p:spPr>
            <a:xfrm>
              <a:off x="19050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XXX</a:t>
              </a:r>
              <a:endParaRPr sz="20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276225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sz="2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71" name="Google Shape;171;p1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7"/>
          <p:cNvPicPr preferRelativeResize="0"/>
          <p:nvPr/>
        </p:nvPicPr>
        <p:blipFill rotWithShape="1">
          <a:blip r:embed="rId3">
            <a:alphaModFix/>
          </a:blip>
          <a:srcRect l="20822" r="20822"/>
          <a:stretch/>
        </p:blipFill>
        <p:spPr>
          <a:xfrm>
            <a:off x="6861225" y="289350"/>
            <a:ext cx="4887301" cy="628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Gen1 </a:t>
            </a: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Specifications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18"/>
          <p:cNvGrpSpPr/>
          <p:nvPr/>
        </p:nvGrpSpPr>
        <p:grpSpPr>
          <a:xfrm>
            <a:off x="571425" y="1357350"/>
            <a:ext cx="5238900" cy="714300"/>
            <a:chOff x="0" y="0"/>
            <a:chExt cx="5238900" cy="7143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Detection Range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700 m (10ft + Drone)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571425" y="2214600"/>
            <a:ext cx="5238900" cy="714300"/>
            <a:chOff x="0" y="0"/>
            <a:chExt cx="5238900" cy="714300"/>
          </a:xfrm>
        </p:grpSpPr>
        <p:sp>
          <p:nvSpPr>
            <p:cNvPr id="184" name="Google Shape;184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Drone Types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Quadcopter, VTOL, Fixed Wing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571425" y="3071850"/>
            <a:ext cx="5238900" cy="714300"/>
            <a:chOff x="0" y="0"/>
            <a:chExt cx="5238900" cy="7143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Communication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 LoRa(+1km), WiFi, BLE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9" name="Google Shape;189;p18"/>
          <p:cNvGrpSpPr/>
          <p:nvPr/>
        </p:nvGrpSpPr>
        <p:grpSpPr>
          <a:xfrm>
            <a:off x="571425" y="3929100"/>
            <a:ext cx="5238900" cy="714300"/>
            <a:chOff x="0" y="0"/>
            <a:chExt cx="5238900" cy="714300"/>
          </a:xfrm>
        </p:grpSpPr>
        <p:sp>
          <p:nvSpPr>
            <p:cNvPr id="190" name="Google Shape;190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Power Requirement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7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24VDC</a:t>
              </a:r>
              <a:endParaRPr sz="17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425" y="4786350"/>
            <a:ext cx="5238900" cy="714300"/>
            <a:chOff x="0" y="0"/>
            <a:chExt cx="5238900" cy="7143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Mounting Options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Vehicle Mount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6381675" y="1357350"/>
            <a:ext cx="5238900" cy="714300"/>
            <a:chOff x="0" y="0"/>
            <a:chExt cx="5238900" cy="714300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Rotation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360° Continuous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6381675" y="2214600"/>
            <a:ext cx="5238900" cy="714300"/>
            <a:chOff x="0" y="0"/>
            <a:chExt cx="5238900" cy="714300"/>
          </a:xfrm>
        </p:grpSpPr>
        <p:sp>
          <p:nvSpPr>
            <p:cNvPr id="199" name="Google Shape;199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Elevation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7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75°</a:t>
              </a:r>
              <a:endParaRPr sz="17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6381675" y="3071850"/>
            <a:ext cx="5238900" cy="714300"/>
            <a:chOff x="0" y="0"/>
            <a:chExt cx="5238900" cy="7143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Trigger Units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5 Independent Rifles 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4" name="Google Shape;204;p18"/>
          <p:cNvGrpSpPr/>
          <p:nvPr/>
        </p:nvGrpSpPr>
        <p:grpSpPr>
          <a:xfrm>
            <a:off x="6381675" y="3929100"/>
            <a:ext cx="5238900" cy="714300"/>
            <a:chOff x="0" y="0"/>
            <a:chExt cx="5238900" cy="714300"/>
          </a:xfrm>
        </p:grpSpPr>
        <p:sp>
          <p:nvSpPr>
            <p:cNvPr id="205" name="Google Shape;205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Deployment Time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7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&lt;10 Minutes</a:t>
              </a:r>
              <a:endParaRPr sz="17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7" name="Google Shape;207;p18"/>
          <p:cNvGrpSpPr/>
          <p:nvPr/>
        </p:nvGrpSpPr>
        <p:grpSpPr>
          <a:xfrm>
            <a:off x="6381675" y="4786350"/>
            <a:ext cx="5238900" cy="714300"/>
            <a:chOff x="0" y="0"/>
            <a:chExt cx="5238900" cy="714300"/>
          </a:xfrm>
        </p:grpSpPr>
        <p:sp>
          <p:nvSpPr>
            <p:cNvPr id="208" name="Google Shape;208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Operation Modes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Auto / Manual </a:t>
              </a:r>
              <a:r>
                <a:rPr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Modes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0" name="Google Shape;210;p18"/>
          <p:cNvGrpSpPr/>
          <p:nvPr/>
        </p:nvGrpSpPr>
        <p:grpSpPr>
          <a:xfrm>
            <a:off x="571425" y="5643600"/>
            <a:ext cx="5238900" cy="714300"/>
            <a:chOff x="0" y="0"/>
            <a:chExt cx="5238900" cy="714300"/>
          </a:xfrm>
        </p:grpSpPr>
        <p:sp>
          <p:nvSpPr>
            <p:cNvPr id="211" name="Google Shape;211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Protection Layer</a:t>
              </a:r>
              <a:endParaRPr sz="12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 1 Layer (Kinetic)</a:t>
              </a:r>
              <a:endParaRPr sz="1600" b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13" name="Google Shape;21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1825" y="598883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7736625" y="5940975"/>
            <a:ext cx="3000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Made in India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381675" y="6415088"/>
            <a:ext cx="570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Fully indigenous development, ensuring supply chain security and sovereignty.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Gen1 Mission Packages</a:t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19"/>
          <p:cNvGrpSpPr/>
          <p:nvPr/>
        </p:nvGrpSpPr>
        <p:grpSpPr>
          <a:xfrm>
            <a:off x="485775" y="1428750"/>
            <a:ext cx="2076600" cy="4381500"/>
            <a:chOff x="0" y="0"/>
            <a:chExt cx="2076600" cy="4381500"/>
          </a:xfrm>
        </p:grpSpPr>
        <p:sp>
          <p:nvSpPr>
            <p:cNvPr id="224" name="Google Shape;224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name="adj" fmla="val 7339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5" name="Google Shape;225;p19"/>
            <p:cNvPicPr preferRelativeResize="0"/>
            <p:nvPr/>
          </p:nvPicPr>
          <p:blipFill rotWithShape="1">
            <a:blip r:embed="rId3">
              <a:alphaModFix/>
            </a:blip>
            <a:srcRect t="4187" b="4187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RF Early Warning</a:t>
              </a:r>
              <a:endParaRPr sz="15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Detects drone communication signals from over 2 km, triggering automated AI tracking to optimize power consumption.</a:t>
              </a:r>
              <a:endParaRPr sz="1250" b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27" name="Google Shape;227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28" name="Google Shape;228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RF</a:t>
                </a:r>
                <a:endParaRPr sz="13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30" name="Google Shape;230;p19"/>
          <p:cNvGrpSpPr/>
          <p:nvPr/>
        </p:nvGrpSpPr>
        <p:grpSpPr>
          <a:xfrm>
            <a:off x="2771775" y="1428750"/>
            <a:ext cx="2076600" cy="4381500"/>
            <a:chOff x="0" y="0"/>
            <a:chExt cx="2076600" cy="4381500"/>
          </a:xfrm>
        </p:grpSpPr>
        <p:sp>
          <p:nvSpPr>
            <p:cNvPr id="231" name="Google Shape;231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name="adj" fmla="val 7339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2" name="Google Shape;232;p19"/>
            <p:cNvPicPr preferRelativeResize="0"/>
            <p:nvPr/>
          </p:nvPicPr>
          <p:blipFill rotWithShape="1">
            <a:blip r:embed="rId4">
              <a:alphaModFix/>
            </a:blip>
            <a:srcRect t="4171" b="4162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Optical Fiber</a:t>
              </a:r>
              <a:endParaRPr sz="15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Provides secure, jammer-resistant command links and live HD video transmission over distances exceeding 5 km.</a:t>
              </a:r>
              <a:endParaRPr sz="1250" b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34" name="Google Shape;234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OF</a:t>
                </a:r>
                <a:endParaRPr sz="13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37" name="Google Shape;237;p19"/>
          <p:cNvGrpSpPr/>
          <p:nvPr/>
        </p:nvGrpSpPr>
        <p:grpSpPr>
          <a:xfrm>
            <a:off x="5057775" y="1428750"/>
            <a:ext cx="2076600" cy="4381500"/>
            <a:chOff x="0" y="0"/>
            <a:chExt cx="2076600" cy="4381500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name="adj" fmla="val 7339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9" name="Google Shape;239;p19"/>
            <p:cNvPicPr preferRelativeResize="0"/>
            <p:nvPr/>
          </p:nvPicPr>
          <p:blipFill rotWithShape="1">
            <a:blip r:embed="rId5">
              <a:alphaModFix/>
            </a:blip>
            <a:srcRect t="4171" b="4162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Electronic Warfare</a:t>
              </a:r>
              <a:endParaRPr sz="15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Delivers advanced radio frequency counter-measures and signal disruption in contested tactical environments.</a:t>
              </a:r>
              <a:endParaRPr sz="12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41" name="Google Shape;241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42" name="Google Shape;242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EW</a:t>
                </a:r>
                <a:endParaRPr sz="13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44" name="Google Shape;244;p19"/>
          <p:cNvGrpSpPr/>
          <p:nvPr/>
        </p:nvGrpSpPr>
        <p:grpSpPr>
          <a:xfrm>
            <a:off x="7343775" y="1428750"/>
            <a:ext cx="2076600" cy="4381500"/>
            <a:chOff x="0" y="0"/>
            <a:chExt cx="2076600" cy="4381500"/>
          </a:xfrm>
        </p:grpSpPr>
        <p:sp>
          <p:nvSpPr>
            <p:cNvPr id="245" name="Google Shape;245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name="adj" fmla="val 7339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6" name="Google Shape;246;p19"/>
            <p:cNvPicPr preferRelativeResize="0"/>
            <p:nvPr/>
          </p:nvPicPr>
          <p:blipFill rotWithShape="1">
            <a:blip r:embed="rId6">
              <a:alphaModFix/>
            </a:blip>
            <a:srcRect t="4171" b="4162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Solar Power</a:t>
              </a:r>
              <a:endParaRPr sz="15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Extends tactical mission endurance using high-efficiency, rapidly deployable solar harvesting units.</a:t>
              </a:r>
              <a:endParaRPr sz="12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48" name="Google Shape;248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49" name="Google Shape;249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SP</a:t>
                </a:r>
                <a:endParaRPr sz="13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51" name="Google Shape;251;p19"/>
          <p:cNvGrpSpPr/>
          <p:nvPr/>
        </p:nvGrpSpPr>
        <p:grpSpPr>
          <a:xfrm>
            <a:off x="9629775" y="1428750"/>
            <a:ext cx="2076600" cy="4381500"/>
            <a:chOff x="0" y="0"/>
            <a:chExt cx="2076600" cy="4381500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name="adj" fmla="val 7339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3" name="Google Shape;253;p19"/>
            <p:cNvPicPr preferRelativeResize="0"/>
            <p:nvPr/>
          </p:nvPicPr>
          <p:blipFill rotWithShape="1">
            <a:blip r:embed="rId7">
              <a:alphaModFix/>
            </a:blip>
            <a:srcRect t="14774" b="14774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Multi-Weapon</a:t>
              </a:r>
              <a:endParaRPr sz="15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Supports multiple independent weapon configurations for enhanced engagement capability.</a:t>
              </a:r>
              <a:endParaRPr sz="12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55" name="Google Shape;255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56" name="Google Shape;256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M</a:t>
                </a:r>
                <a:endParaRPr sz="13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258" name="Google Shape;258;p19"/>
          <p:cNvSpPr txBox="1"/>
          <p:nvPr/>
        </p:nvSpPr>
        <p:spPr>
          <a:xfrm>
            <a:off x="571500" y="6534000"/>
            <a:ext cx="1104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Modular capability upgrades that can be integrated with STRIKE Gen1 to enhance mission effectiveness and operational flexibility.</a:t>
            </a:r>
            <a:endParaRPr sz="1350">
              <a:solidFill>
                <a:srgbClr val="4755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14375" y="414337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RF Early Warning Package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71500" y="414337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71500" y="136683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571500" y="1738300"/>
            <a:ext cx="5076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RF Early Warning Package detects drone communication signals from distances exceeding 2 km. Upon detecting an RF signature, the AI vision system automatically activates, enabling faster target acquisition while significantly reducing overall power consumption.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571500" y="369093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904875" y="41671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 km+ RF Detection Range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904875" y="46148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Automatic AI Activation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904875" y="50625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Threat Warning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904875" y="55102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Lower Power Consumption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904875" y="59578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Extended Mission Endurance</a:t>
            </a:r>
            <a:endParaRPr/>
          </a:p>
        </p:txBody>
      </p:sp>
      <p:pic>
        <p:nvPicPr>
          <p:cNvPr id="274" name="Google Shape;2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2005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48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958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435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9912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 descr="add drone Jammer RF Detection near system also remove Number placed on Vechicle "/>
          <p:cNvPicPr preferRelativeResize="0"/>
          <p:nvPr/>
        </p:nvPicPr>
        <p:blipFill rotWithShape="1">
          <a:blip r:embed="rId8">
            <a:alphaModFix/>
          </a:blip>
          <a:srcRect r="15966"/>
          <a:stretch/>
        </p:blipFill>
        <p:spPr>
          <a:xfrm>
            <a:off x="6003975" y="315250"/>
            <a:ext cx="6107300" cy="5447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20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281" name="Google Shape;281;p20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XXX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714375" y="566737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Optical Fiber Package</a:t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571500" y="566737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71500" y="151923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571500" y="2033587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Provides secure optical fiber-based command, control, and live video transmission over distances exceeding 5 km, ensuring uninterrupted operation in electronically contested environments where wireless communication may be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Jammed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571500" y="353853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pic>
        <p:nvPicPr>
          <p:cNvPr id="294" name="Google Shape;294;p21"/>
          <p:cNvPicPr preferRelativeResize="0"/>
          <p:nvPr/>
        </p:nvPicPr>
        <p:blipFill rotWithShape="1">
          <a:blip r:embed="rId4">
            <a:alphaModFix/>
          </a:blip>
          <a:srcRect t="3878" b="16498"/>
          <a:stretch/>
        </p:blipFill>
        <p:spPr>
          <a:xfrm>
            <a:off x="6381750" y="148450"/>
            <a:ext cx="5500650" cy="58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/>
        </p:nvSpPr>
        <p:spPr>
          <a:xfrm>
            <a:off x="904875" y="40147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 km+ Secure Fiber Link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904875" y="44624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Jammer Resistant Comms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904875" y="49101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 High-Def Video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904875" y="53578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Ultra-Low Latency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904875" y="58054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Secure Encrypted Communication</a:t>
            </a:r>
            <a:endParaRPr/>
          </a:p>
        </p:txBody>
      </p:sp>
      <p:pic>
        <p:nvPicPr>
          <p:cNvPr id="300" name="Google Shape;3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481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958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434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391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38825"/>
            <a:ext cx="18097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21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06" name="Google Shape;306;p21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XXX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15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Electronic Warfare Package</a:t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571500" y="174307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571500" y="2257425"/>
            <a:ext cx="48339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Enhances STRIKE with integrated RF jamming capability to disrupt hostile drone communication and navigation links, providing a critical additional non-kinetic layer of protection for the defended airspace.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571500" y="3762375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904875" y="42386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Multi-Band Signal Jamming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904875" y="46863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Configurable Frequencies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904875" y="51339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Layer-2 Non-Kinetic Protection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904875" y="5581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Modular Integration Design</a:t>
            </a:r>
            <a:endParaRPr/>
          </a:p>
        </p:txBody>
      </p:sp>
      <p:pic>
        <p:nvPicPr>
          <p:cNvPr id="322" name="Google Shape;3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2719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19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673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6149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2" descr="add small Jammer 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0250" y="1202038"/>
            <a:ext cx="6300800" cy="4722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2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28" name="Google Shape;328;p22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22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45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Solar Power Package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571500" y="174307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571500" y="2257425"/>
            <a:ext cx="4979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Integrates solar charging and intelligent battery management, enabling continuous, sustained operation in remote forward areas without access to conventional power infrastructure or generators.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571500" y="3762375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904875" y="42386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24×7 Continuous Operation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904875" y="46863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High-Efficiency Solar Charging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904875" y="51339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Intelligent Battery Management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904875" y="5581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Ideal for Remote Deployment</a:t>
            </a:r>
            <a:endParaRPr/>
          </a:p>
        </p:txBody>
      </p:sp>
      <p:pic>
        <p:nvPicPr>
          <p:cNvPr id="345" name="Google Shape;3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767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196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673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6149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3"/>
          <p:cNvPicPr preferRelativeResize="0"/>
          <p:nvPr/>
        </p:nvPicPr>
        <p:blipFill rotWithShape="1">
          <a:blip r:embed="rId8">
            <a:alphaModFix/>
          </a:blip>
          <a:srcRect l="971" r="980"/>
          <a:stretch/>
        </p:blipFill>
        <p:spPr>
          <a:xfrm>
            <a:off x="5657079" y="970062"/>
            <a:ext cx="6429300" cy="4917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3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51" name="Google Shape;351;p23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20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714375" y="571500"/>
            <a:ext cx="509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Multi-Weapon Package</a:t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571500" y="2026725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361225" y="2514400"/>
            <a:ext cx="52389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multiple weapon configurations through a modular mounting architecture with independent trigger control. This flexibility allows for rapid adaptation to mission-specific requirements, ranging from kinetic engagement to less-lethal countermeasures.</a:t>
            </a:r>
            <a:endParaRPr sz="15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Compatible with multiple weapon platforms, including INSAS, AK-203, LMG, MMG, and other compatible assault weapon systems.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2" name="Google Shape;362;p24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63" name="Google Shape;363;p24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4" name="Google Shape;364;p24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65" name="Google Shape;365;p24" title="strike 2 m l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400" y="766400"/>
            <a:ext cx="6146698" cy="493430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66" name="Google Shape;366;p24"/>
          <p:cNvSpPr txBox="1"/>
          <p:nvPr/>
        </p:nvSpPr>
        <p:spPr>
          <a:xfrm>
            <a:off x="10678425" y="4794125"/>
            <a:ext cx="970500" cy="461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LMG</a:t>
            </a:r>
            <a:endParaRPr sz="2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5"/>
          <p:cNvSpPr txBox="1"/>
          <p:nvPr/>
        </p:nvSpPr>
        <p:spPr>
          <a:xfrm>
            <a:off x="571500" y="571500"/>
            <a:ext cx="520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STRIKE </a:t>
            </a:r>
            <a:r>
              <a:rPr lang="en-US" sz="45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Gen2</a:t>
            </a:r>
            <a:endParaRPr dirty="0"/>
          </a:p>
        </p:txBody>
      </p:sp>
      <p:sp>
        <p:nvSpPr>
          <p:cNvPr id="373" name="Google Shape;373;p25"/>
          <p:cNvSpPr txBox="1"/>
          <p:nvPr/>
        </p:nvSpPr>
        <p:spPr>
          <a:xfrm>
            <a:off x="571500" y="152400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Next-Generation AI Counter-UAS Platform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538650" y="2198314"/>
            <a:ext cx="49530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STRIKE Gen2 builds upon the proven STRIKE Gen 1 platform with next-generation sensing, Edge AI computing, and layered </a:t>
            </a:r>
            <a:r>
              <a:rPr lang="en-US" sz="15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defence</a:t>
            </a: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capabilities. Integrating Day &amp; Night vision, LiDAR-assisted target identification, electronic warfare, and extended-range operations, it delivers enhanced situational awareness, faster target acquisition, and greater mission effectiveness. Its modular and scalable architecture supports seamless integration of future sensors, mission systems, and Counter-UAS technologies.</a:t>
            </a:r>
            <a:endParaRPr dirty="0"/>
          </a:p>
        </p:txBody>
      </p:sp>
      <p:sp>
        <p:nvSpPr>
          <p:cNvPr id="375" name="Google Shape;375;p25"/>
          <p:cNvSpPr txBox="1"/>
          <p:nvPr/>
        </p:nvSpPr>
        <p:spPr>
          <a:xfrm>
            <a:off x="164675" y="58987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" name="Google Shape;376;p25"/>
          <p:cNvGrpSpPr/>
          <p:nvPr/>
        </p:nvGrpSpPr>
        <p:grpSpPr>
          <a:xfrm>
            <a:off x="633825" y="5849800"/>
            <a:ext cx="4762650" cy="762000"/>
            <a:chOff x="190500" y="142875"/>
            <a:chExt cx="4762650" cy="762000"/>
          </a:xfrm>
        </p:grpSpPr>
        <p:sp>
          <p:nvSpPr>
            <p:cNvPr id="377" name="Google Shape;377;p25"/>
            <p:cNvSpPr txBox="1"/>
            <p:nvPr/>
          </p:nvSpPr>
          <p:spPr>
            <a:xfrm>
              <a:off x="19050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XXX</a:t>
              </a:r>
              <a:endParaRPr sz="20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8" name="Google Shape;378;p25"/>
            <p:cNvSpPr txBox="1"/>
            <p:nvPr/>
          </p:nvSpPr>
          <p:spPr>
            <a:xfrm>
              <a:off x="276225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45 Days</a:t>
              </a:r>
              <a:endParaRPr sz="2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79" name="Google Shape;379;p2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80;p25" title="STRIKE Gen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4450" y="274375"/>
            <a:ext cx="6257126" cy="625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" name="Google Shape;386;p26"/>
          <p:cNvGrpSpPr/>
          <p:nvPr/>
        </p:nvGrpSpPr>
        <p:grpSpPr>
          <a:xfrm>
            <a:off x="571500" y="476250"/>
            <a:ext cx="11049000" cy="666900"/>
            <a:chOff x="0" y="0"/>
            <a:chExt cx="11049000" cy="666900"/>
          </a:xfrm>
        </p:grpSpPr>
        <p:sp>
          <p:nvSpPr>
            <p:cNvPr id="387" name="Google Shape;387;p26"/>
            <p:cNvSpPr/>
            <p:nvPr/>
          </p:nvSpPr>
          <p:spPr>
            <a:xfrm>
              <a:off x="0" y="0"/>
              <a:ext cx="57300" cy="6669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6"/>
            <p:cNvSpPr txBox="1"/>
            <p:nvPr/>
          </p:nvSpPr>
          <p:spPr>
            <a:xfrm>
              <a:off x="228600" y="0"/>
              <a:ext cx="10820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STRIKE Gen2: What's New</a:t>
              </a:r>
              <a:endParaRPr sz="28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Designed for the most demanding multi-domain threat environments.</a:t>
              </a:r>
              <a:endParaRPr sz="130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9" name="Google Shape;389;p26"/>
          <p:cNvGrpSpPr/>
          <p:nvPr/>
        </p:nvGrpSpPr>
        <p:grpSpPr>
          <a:xfrm>
            <a:off x="571500" y="1524000"/>
            <a:ext cx="3429000" cy="4857900"/>
            <a:chOff x="0" y="0"/>
            <a:chExt cx="3429000" cy="4857900"/>
          </a:xfrm>
        </p:grpSpPr>
        <p:sp>
          <p:nvSpPr>
            <p:cNvPr id="390" name="Google Shape;390;p2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6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Sensing &amp; Optics</a:t>
              </a:r>
              <a:endParaRPr sz="15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92" name="Google Shape;392;p26"/>
            <p:cNvGrpSpPr/>
            <p:nvPr/>
          </p:nvGrpSpPr>
          <p:grpSpPr>
            <a:xfrm>
              <a:off x="152400" y="714375"/>
              <a:ext cx="3124200" cy="809700"/>
              <a:chOff x="0" y="0"/>
              <a:chExt cx="3124200" cy="809700"/>
            </a:xfrm>
          </p:grpSpPr>
          <p:sp>
            <p:nvSpPr>
              <p:cNvPr id="393" name="Google Shape;393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96" name="Google Shape;396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Camera System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Day &amp; Night PTZ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97" name="Google Shape;397;p26"/>
            <p:cNvGrpSpPr/>
            <p:nvPr/>
          </p:nvGrpSpPr>
          <p:grpSpPr>
            <a:xfrm>
              <a:off x="152400" y="1619250"/>
              <a:ext cx="3124200" cy="809700"/>
              <a:chOff x="0" y="0"/>
              <a:chExt cx="3124200" cy="809700"/>
            </a:xfrm>
          </p:grpSpPr>
          <p:sp>
            <p:nvSpPr>
              <p:cNvPr id="398" name="Google Shape;398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1" name="Google Shape;401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Optical Zoom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30×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2" name="Google Shape;402;p26"/>
            <p:cNvGrpSpPr/>
            <p:nvPr/>
          </p:nvGrpSpPr>
          <p:grpSpPr>
            <a:xfrm>
              <a:off x="152400" y="2524125"/>
              <a:ext cx="3124200" cy="809700"/>
              <a:chOff x="0" y="0"/>
              <a:chExt cx="3124200" cy="809700"/>
            </a:xfrm>
          </p:grpSpPr>
          <p:sp>
            <p:nvSpPr>
              <p:cNvPr id="403" name="Google Shape;403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6" name="Google Shape;406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Detection Range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+ 1.5 km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7" name="Google Shape;407;p26"/>
            <p:cNvGrpSpPr/>
            <p:nvPr/>
          </p:nvGrpSpPr>
          <p:grpSpPr>
            <a:xfrm>
              <a:off x="152400" y="3429000"/>
              <a:ext cx="3124200" cy="809700"/>
              <a:chOff x="0" y="0"/>
              <a:chExt cx="3124200" cy="809700"/>
            </a:xfrm>
          </p:grpSpPr>
          <p:sp>
            <p:nvSpPr>
              <p:cNvPr id="408" name="Google Shape;408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1" name="Google Shape;411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LiDAR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Integrated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12" name="Google Shape;412;p26"/>
          <p:cNvGrpSpPr/>
          <p:nvPr/>
        </p:nvGrpSpPr>
        <p:grpSpPr>
          <a:xfrm>
            <a:off x="4381500" y="1524000"/>
            <a:ext cx="3429000" cy="4857900"/>
            <a:chOff x="0" y="0"/>
            <a:chExt cx="3429000" cy="4857900"/>
          </a:xfrm>
        </p:grpSpPr>
        <p:sp>
          <p:nvSpPr>
            <p:cNvPr id="413" name="Google Shape;413;p2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6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Intelligence &amp; Control</a:t>
              </a:r>
              <a:endParaRPr sz="15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15" name="Google Shape;415;p26"/>
            <p:cNvGrpSpPr/>
            <p:nvPr/>
          </p:nvGrpSpPr>
          <p:grpSpPr>
            <a:xfrm>
              <a:off x="152400" y="809625"/>
              <a:ext cx="3124200" cy="809700"/>
              <a:chOff x="0" y="0"/>
              <a:chExt cx="3124200" cy="809700"/>
            </a:xfrm>
          </p:grpSpPr>
          <p:sp>
            <p:nvSpPr>
              <p:cNvPr id="416" name="Google Shape;416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9" name="Google Shape;419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AI Architecture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NVIDIA Edge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0" name="Google Shape;420;p26"/>
            <p:cNvGrpSpPr/>
            <p:nvPr/>
          </p:nvGrpSpPr>
          <p:grpSpPr>
            <a:xfrm>
              <a:off x="152400" y="2000250"/>
              <a:ext cx="3124200" cy="809700"/>
              <a:chOff x="0" y="0"/>
              <a:chExt cx="3124200" cy="809700"/>
            </a:xfrm>
          </p:grpSpPr>
          <p:sp>
            <p:nvSpPr>
              <p:cNvPr id="421" name="Google Shape;421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24" name="Google Shape;424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Trigger Units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 Independent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5" name="Google Shape;425;p26"/>
            <p:cNvGrpSpPr/>
            <p:nvPr/>
          </p:nvGrpSpPr>
          <p:grpSpPr>
            <a:xfrm>
              <a:off x="152400" y="3190875"/>
              <a:ext cx="3124200" cy="809700"/>
              <a:chOff x="0" y="0"/>
              <a:chExt cx="3124200" cy="809700"/>
            </a:xfrm>
          </p:grpSpPr>
          <p:sp>
            <p:nvSpPr>
              <p:cNvPr id="426" name="Google Shape;426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29" name="Google Shape;429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Rotation / Elevation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360° / 80°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30" name="Google Shape;430;p26"/>
          <p:cNvGrpSpPr/>
          <p:nvPr/>
        </p:nvGrpSpPr>
        <p:grpSpPr>
          <a:xfrm>
            <a:off x="8191500" y="1524000"/>
            <a:ext cx="3429000" cy="4857900"/>
            <a:chOff x="0" y="0"/>
            <a:chExt cx="3429000" cy="4857900"/>
          </a:xfrm>
        </p:grpSpPr>
        <p:sp>
          <p:nvSpPr>
            <p:cNvPr id="431" name="Google Shape;431;p2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6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Comms &amp; Protection</a:t>
              </a:r>
              <a:endParaRPr sz="15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33" name="Google Shape;433;p26"/>
            <p:cNvGrpSpPr/>
            <p:nvPr/>
          </p:nvGrpSpPr>
          <p:grpSpPr>
            <a:xfrm>
              <a:off x="152400" y="714375"/>
              <a:ext cx="3124200" cy="809700"/>
              <a:chOff x="0" y="0"/>
              <a:chExt cx="3124200" cy="809700"/>
            </a:xfrm>
          </p:grpSpPr>
          <p:sp>
            <p:nvSpPr>
              <p:cNvPr id="434" name="Google Shape;434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37" name="Google Shape;437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Comms (LoRa/Fiber)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km / 5 km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8" name="Google Shape;438;p26"/>
            <p:cNvGrpSpPr/>
            <p:nvPr/>
          </p:nvGrpSpPr>
          <p:grpSpPr>
            <a:xfrm>
              <a:off x="152400" y="1619250"/>
              <a:ext cx="3124200" cy="809700"/>
              <a:chOff x="0" y="0"/>
              <a:chExt cx="3124200" cy="809700"/>
            </a:xfrm>
          </p:grpSpPr>
          <p:sp>
            <p:nvSpPr>
              <p:cNvPr id="439" name="Google Shape;439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42" name="Google Shape;442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Video Transmission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km Wireless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3" name="Google Shape;443;p26"/>
            <p:cNvGrpSpPr/>
            <p:nvPr/>
          </p:nvGrpSpPr>
          <p:grpSpPr>
            <a:xfrm>
              <a:off x="152400" y="2524125"/>
              <a:ext cx="3124200" cy="809700"/>
              <a:chOff x="0" y="0"/>
              <a:chExt cx="3124200" cy="809700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47" name="Google Shape;447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Power / Deployment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24VDC / &lt;10 Min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8" name="Google Shape;448;p26"/>
            <p:cNvGrpSpPr/>
            <p:nvPr/>
          </p:nvGrpSpPr>
          <p:grpSpPr>
            <a:xfrm>
              <a:off x="152400" y="3429000"/>
              <a:ext cx="3124200" cy="809700"/>
              <a:chOff x="0" y="0"/>
              <a:chExt cx="3124200" cy="809700"/>
            </a:xfrm>
          </p:grpSpPr>
          <p:sp>
            <p:nvSpPr>
              <p:cNvPr id="449" name="Google Shape;449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2" name="Google Shape;452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Protection Layer</a:t>
                </a:r>
                <a:endParaRPr sz="900" b="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(Kinetic + Jamming)</a:t>
                </a:r>
                <a:endParaRPr sz="125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Gen2 Mission Packages</a:t>
            </a:r>
            <a:endParaRPr/>
          </a:p>
        </p:txBody>
      </p:sp>
      <p:sp>
        <p:nvSpPr>
          <p:cNvPr id="459" name="Google Shape;459;p27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0" name="Google Shape;460;p27"/>
          <p:cNvGrpSpPr/>
          <p:nvPr/>
        </p:nvGrpSpPr>
        <p:grpSpPr>
          <a:xfrm>
            <a:off x="571500" y="1619250"/>
            <a:ext cx="2057400" cy="4381500"/>
            <a:chOff x="0" y="0"/>
            <a:chExt cx="2057400" cy="4381500"/>
          </a:xfrm>
        </p:grpSpPr>
        <p:sp>
          <p:nvSpPr>
            <p:cNvPr id="461" name="Google Shape;461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name="adj" fmla="val 740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62" name="Google Shape;462;p27"/>
            <p:cNvPicPr preferRelativeResize="0"/>
            <p:nvPr/>
          </p:nvPicPr>
          <p:blipFill rotWithShape="1">
            <a:blip r:embed="rId3">
              <a:alphaModFix/>
            </a:blip>
            <a:srcRect t="3695" b="3704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name="adj" fmla="val 5925"/>
              </a:avLst>
            </a:prstGeom>
            <a:noFill/>
            <a:ln>
              <a:noFill/>
            </a:ln>
          </p:spPr>
        </p:pic>
        <p:sp>
          <p:nvSpPr>
            <p:cNvPr id="463" name="Google Shape;463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Solar Power</a:t>
              </a:r>
              <a:endParaRPr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Extends tactical mission endurance using high-efficiency, rapidly deployable solar harvesting units.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64" name="Google Shape;464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65" name="Google Shape;465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name="adj" fmla="val 15094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2  SP</a:t>
                </a:r>
                <a:endParaRPr sz="135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67" name="Google Shape;467;p27"/>
          <p:cNvGrpSpPr/>
          <p:nvPr/>
        </p:nvGrpSpPr>
        <p:grpSpPr>
          <a:xfrm>
            <a:off x="2819400" y="1619250"/>
            <a:ext cx="2057400" cy="4381500"/>
            <a:chOff x="0" y="0"/>
            <a:chExt cx="2057400" cy="4381500"/>
          </a:xfrm>
        </p:grpSpPr>
        <p:sp>
          <p:nvSpPr>
            <p:cNvPr id="468" name="Google Shape;468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name="adj" fmla="val 740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69" name="Google Shape;469;p27"/>
            <p:cNvPicPr preferRelativeResize="0"/>
            <p:nvPr/>
          </p:nvPicPr>
          <p:blipFill rotWithShape="1">
            <a:blip r:embed="rId4">
              <a:alphaModFix/>
            </a:blip>
            <a:srcRect t="14413" b="1441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name="adj" fmla="val 5925"/>
              </a:avLst>
            </a:prstGeom>
            <a:noFill/>
            <a:ln>
              <a:noFill/>
            </a:ln>
          </p:spPr>
        </p:pic>
        <p:sp>
          <p:nvSpPr>
            <p:cNvPr id="470" name="Google Shape;470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Multi-Weapon</a:t>
              </a:r>
              <a:endParaRPr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Supports multiple independent weapon configurations for enhanced engagement capability.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71" name="Google Shape;471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72" name="Google Shape;472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name="adj" fmla="val 15094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2  M</a:t>
                </a:r>
                <a:endParaRPr sz="135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74" name="Google Shape;474;p27"/>
          <p:cNvGrpSpPr/>
          <p:nvPr/>
        </p:nvGrpSpPr>
        <p:grpSpPr>
          <a:xfrm>
            <a:off x="5067300" y="1619250"/>
            <a:ext cx="2057400" cy="4381500"/>
            <a:chOff x="0" y="0"/>
            <a:chExt cx="2057400" cy="4381500"/>
          </a:xfrm>
        </p:grpSpPr>
        <p:sp>
          <p:nvSpPr>
            <p:cNvPr id="475" name="Google Shape;475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name="adj" fmla="val 740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76" name="Google Shape;476;p27"/>
            <p:cNvPicPr preferRelativeResize="0"/>
            <p:nvPr/>
          </p:nvPicPr>
          <p:blipFill rotWithShape="1">
            <a:blip r:embed="rId5">
              <a:alphaModFix/>
            </a:blip>
            <a:srcRect t="14413" b="1441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name="adj" fmla="val 5925"/>
              </a:avLst>
            </a:prstGeom>
            <a:noFill/>
            <a:ln>
              <a:noFill/>
            </a:ln>
          </p:spPr>
        </p:pic>
        <p:sp>
          <p:nvSpPr>
            <p:cNvPr id="477" name="Google Shape;477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Radar Surveillance</a:t>
              </a:r>
              <a:endParaRPr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Long-range radar for early detection and automatic target cueing.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78" name="Google Shape;478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79" name="Google Shape;479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name="adj" fmla="val 15094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2 RS</a:t>
                </a:r>
                <a:endParaRPr sz="135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81" name="Google Shape;481;p27"/>
          <p:cNvGrpSpPr/>
          <p:nvPr/>
        </p:nvGrpSpPr>
        <p:grpSpPr>
          <a:xfrm>
            <a:off x="7315200" y="1619250"/>
            <a:ext cx="2057400" cy="4381500"/>
            <a:chOff x="0" y="0"/>
            <a:chExt cx="2057400" cy="4381500"/>
          </a:xfrm>
        </p:grpSpPr>
        <p:sp>
          <p:nvSpPr>
            <p:cNvPr id="482" name="Google Shape;482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name="adj" fmla="val 740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83" name="Google Shape;483;p27"/>
            <p:cNvPicPr preferRelativeResize="0"/>
            <p:nvPr/>
          </p:nvPicPr>
          <p:blipFill rotWithShape="1">
            <a:blip r:embed="rId6">
              <a:alphaModFix/>
            </a:blip>
            <a:srcRect t="14413" b="1441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name="adj" fmla="val 5925"/>
              </a:avLst>
            </a:prstGeom>
            <a:noFill/>
            <a:ln>
              <a:noFill/>
            </a:ln>
          </p:spPr>
        </p:pic>
        <p:sp>
          <p:nvSpPr>
            <p:cNvPr id="484" name="Google Shape;484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GPS Spoofing</a:t>
              </a:r>
              <a:endParaRPr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Disrupts hostile UAV navigation through controlled GNSS signal manipulation.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85" name="Google Shape;485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86" name="Google Shape;486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name="adj" fmla="val 15094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2 GS</a:t>
                </a:r>
                <a:endParaRPr sz="135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88" name="Google Shape;488;p27"/>
          <p:cNvGrpSpPr/>
          <p:nvPr/>
        </p:nvGrpSpPr>
        <p:grpSpPr>
          <a:xfrm>
            <a:off x="9563100" y="1619250"/>
            <a:ext cx="2057400" cy="4381500"/>
            <a:chOff x="0" y="0"/>
            <a:chExt cx="2057400" cy="4381500"/>
          </a:xfrm>
        </p:grpSpPr>
        <p:sp>
          <p:nvSpPr>
            <p:cNvPr id="489" name="Google Shape;489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name="adj" fmla="val 7407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90" name="Google Shape;490;p27"/>
            <p:cNvPicPr preferRelativeResize="0"/>
            <p:nvPr/>
          </p:nvPicPr>
          <p:blipFill rotWithShape="1">
            <a:blip r:embed="rId7">
              <a:alphaModFix/>
            </a:blip>
            <a:srcRect t="14403" b="1440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name="adj" fmla="val 5925"/>
              </a:avLst>
            </a:prstGeom>
            <a:noFill/>
            <a:ln>
              <a:noFill/>
            </a:ln>
          </p:spPr>
        </p:pic>
        <p:sp>
          <p:nvSpPr>
            <p:cNvPr id="491" name="Google Shape;491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EMP</a:t>
              </a:r>
              <a:endParaRPr sz="1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Integrates electromagnetic payloads for advanced electronic threat neutralization.</a:t>
              </a:r>
              <a:endParaRPr sz="1350" b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92" name="Google Shape;492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93" name="Google Shape;493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name="adj" fmla="val 15094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</a:t>
                </a:r>
                <a:endParaRPr sz="10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350" b="1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STRIKE 2 EMP</a:t>
                </a:r>
                <a:endParaRPr sz="135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495" name="Google Shape;495;p27"/>
          <p:cNvSpPr txBox="1"/>
          <p:nvPr/>
        </p:nvSpPr>
        <p:spPr>
          <a:xfrm>
            <a:off x="571500" y="6431988"/>
            <a:ext cx="11049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Modular capability upgrades that can be integrated with STRIKE Gen2 to enhance mission effectiveness and operational flexibility.</a:t>
            </a:r>
            <a:endParaRPr sz="1250" b="0">
              <a:solidFill>
                <a:srgbClr val="4755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714375" y="571500"/>
            <a:ext cx="11451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Solar Power Package </a:t>
            </a:r>
            <a:r>
              <a:rPr lang="en-US" sz="3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(Gen2)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571500" y="1743075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505" name="Google Shape;505;p28"/>
          <p:cNvSpPr txBox="1"/>
          <p:nvPr/>
        </p:nvSpPr>
        <p:spPr>
          <a:xfrm>
            <a:off x="571500" y="2257425"/>
            <a:ext cx="4905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Integrates solar charging and intelligent battery management, enabling continuous, sustained operation in remote forward areas without access to conventional power infrastructure or generators.</a:t>
            </a:r>
            <a:endParaRPr/>
          </a:p>
        </p:txBody>
      </p:sp>
      <p:sp>
        <p:nvSpPr>
          <p:cNvPr id="506" name="Google Shape;506;p28"/>
          <p:cNvSpPr txBox="1"/>
          <p:nvPr/>
        </p:nvSpPr>
        <p:spPr>
          <a:xfrm>
            <a:off x="571500" y="3762375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507" name="Google Shape;507;p28"/>
          <p:cNvSpPr txBox="1"/>
          <p:nvPr/>
        </p:nvSpPr>
        <p:spPr>
          <a:xfrm>
            <a:off x="904875" y="42386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24×7 Continuous Operation</a:t>
            </a:r>
            <a:endParaRPr/>
          </a:p>
        </p:txBody>
      </p:sp>
      <p:sp>
        <p:nvSpPr>
          <p:cNvPr id="508" name="Google Shape;508;p28"/>
          <p:cNvSpPr txBox="1"/>
          <p:nvPr/>
        </p:nvSpPr>
        <p:spPr>
          <a:xfrm>
            <a:off x="904875" y="468630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High-Efficiency Solar Charging</a:t>
            </a:r>
            <a:endParaRPr/>
          </a:p>
        </p:txBody>
      </p:sp>
      <p:sp>
        <p:nvSpPr>
          <p:cNvPr id="509" name="Google Shape;509;p28"/>
          <p:cNvSpPr txBox="1"/>
          <p:nvPr/>
        </p:nvSpPr>
        <p:spPr>
          <a:xfrm>
            <a:off x="904875" y="513397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Intelligent Battery Management</a:t>
            </a:r>
            <a:endParaRPr/>
          </a:p>
        </p:txBody>
      </p:sp>
      <p:sp>
        <p:nvSpPr>
          <p:cNvPr id="510" name="Google Shape;510;p28"/>
          <p:cNvSpPr txBox="1"/>
          <p:nvPr/>
        </p:nvSpPr>
        <p:spPr>
          <a:xfrm>
            <a:off x="904875" y="558165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Ideal for Remote Deployment</a:t>
            </a:r>
            <a:endParaRPr/>
          </a:p>
        </p:txBody>
      </p:sp>
      <p:pic>
        <p:nvPicPr>
          <p:cNvPr id="511" name="Google Shape;51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767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196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673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6149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8"/>
          <p:cNvPicPr preferRelativeResize="0"/>
          <p:nvPr/>
        </p:nvPicPr>
        <p:blipFill rotWithShape="1">
          <a:blip r:embed="rId8">
            <a:alphaModFix/>
          </a:blip>
          <a:srcRect l="971" r="980"/>
          <a:stretch/>
        </p:blipFill>
        <p:spPr>
          <a:xfrm>
            <a:off x="5786475" y="1174582"/>
            <a:ext cx="6324575" cy="48377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" name="Google Shape;516;p28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17" name="Google Shape;517;p28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20 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 txBox="1"/>
          <p:nvPr/>
        </p:nvSpPr>
        <p:spPr>
          <a:xfrm>
            <a:off x="714375" y="571500"/>
            <a:ext cx="509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Multi-Weapon Package</a:t>
            </a: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571500" y="2026725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527" name="Google Shape;527;p29"/>
          <p:cNvSpPr txBox="1"/>
          <p:nvPr/>
        </p:nvSpPr>
        <p:spPr>
          <a:xfrm>
            <a:off x="571500" y="2541075"/>
            <a:ext cx="52389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multiple weapon configurations through a modular mounting architecture with independent trigger control. This flexibility allows for rapid adaptation to mission-specific requirements, ranging from kinetic engagement to less-lethal countermeasures.</a:t>
            </a:r>
            <a:endParaRPr sz="15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Compatible with multiple weapon platforms, including INSAS, AK-203, LMG, MMG, and other compatible assault weapon systems.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28" name="Google Shape;528;p29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29" name="Google Shape;529;p29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1 - 3  Lakhs</a:t>
              </a:r>
              <a:endParaRPr sz="17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30" name="Google Shape;530;p29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31" name="Google Shape;531;p29" title="strike 2 m l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400" y="766400"/>
            <a:ext cx="6146698" cy="493430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32" name="Google Shape;532;p29"/>
          <p:cNvSpPr txBox="1"/>
          <p:nvPr/>
        </p:nvSpPr>
        <p:spPr>
          <a:xfrm>
            <a:off x="10678425" y="4794125"/>
            <a:ext cx="970500" cy="461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LMG</a:t>
            </a:r>
            <a:endParaRPr sz="2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Radar Package</a:t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571500" y="158025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571500" y="2094600"/>
            <a:ext cx="51090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Radar Package integrates a long-range radar system that continuously scans the surrounding airspace, providing early target detection and automatic cueing of the electro-optical tracking system. This enhances performance in complex environments.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571500" y="347751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543" name="Google Shape;543;p30"/>
          <p:cNvSpPr txBox="1"/>
          <p:nvPr/>
        </p:nvSpPr>
        <p:spPr>
          <a:xfrm>
            <a:off x="904875" y="395376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Long-Range Radar Detection</a:t>
            </a:r>
            <a:endParaRPr/>
          </a:p>
        </p:txBody>
      </p:sp>
      <p:sp>
        <p:nvSpPr>
          <p:cNvPr id="544" name="Google Shape;544;p30"/>
          <p:cNvSpPr txBox="1"/>
          <p:nvPr/>
        </p:nvSpPr>
        <p:spPr>
          <a:xfrm>
            <a:off x="904875" y="440144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Continuous Airspace Monitoring</a:t>
            </a:r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904875" y="484911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Automatic AI Cueing</a:t>
            </a:r>
            <a:endParaRPr/>
          </a:p>
        </p:txBody>
      </p:sp>
      <p:sp>
        <p:nvSpPr>
          <p:cNvPr id="546" name="Google Shape;546;p30"/>
          <p:cNvSpPr txBox="1"/>
          <p:nvPr/>
        </p:nvSpPr>
        <p:spPr>
          <a:xfrm>
            <a:off x="904875" y="529679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All-Weather Detection</a:t>
            </a:r>
            <a:endParaRPr/>
          </a:p>
        </p:txBody>
      </p:sp>
      <p:sp>
        <p:nvSpPr>
          <p:cNvPr id="547" name="Google Shape;547;p30"/>
          <p:cNvSpPr txBox="1"/>
          <p:nvPr/>
        </p:nvSpPr>
        <p:spPr>
          <a:xfrm>
            <a:off x="904875" y="574446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Enhanced Situational Awareness</a:t>
            </a:r>
            <a:endParaRPr/>
          </a:p>
        </p:txBody>
      </p:sp>
      <p:pic>
        <p:nvPicPr>
          <p:cNvPr id="548" name="Google Shape;54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347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824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01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777805"/>
            <a:ext cx="2381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2" name="Google Shape;552;p30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53" name="Google Shape;553;p30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4" name="Google Shape;554;p30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90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55" name="Google Shape;555;p30" title="STRIKE 2 with radar.png"/>
          <p:cNvPicPr preferRelativeResize="0"/>
          <p:nvPr/>
        </p:nvPicPr>
        <p:blipFill rotWithShape="1">
          <a:blip r:embed="rId7">
            <a:alphaModFix/>
          </a:blip>
          <a:srcRect r="13322"/>
          <a:stretch/>
        </p:blipFill>
        <p:spPr>
          <a:xfrm>
            <a:off x="5924581" y="571500"/>
            <a:ext cx="6186470" cy="535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89500"/>
            <a:ext cx="219050" cy="1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1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GPS Spoofing Package</a:t>
            </a:r>
            <a:endParaRPr sz="300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571500" y="1476375"/>
            <a:ext cx="5500800" cy="3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195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31"/>
          <p:cNvSpPr txBox="1"/>
          <p:nvPr/>
        </p:nvSpPr>
        <p:spPr>
          <a:xfrm>
            <a:off x="571500" y="1952625"/>
            <a:ext cx="52389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GPS Spoofing Package integrates advanced GNSS countermeasure capabilities to enhance the platform's layered Counter-UAS defence architecture against navigation-dependent aerial threats.</a:t>
            </a:r>
            <a:endParaRPr sz="1400" b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6" name="Google Shape;566;p31"/>
          <p:cNvPicPr preferRelativeResize="0"/>
          <p:nvPr/>
        </p:nvPicPr>
        <p:blipFill rotWithShape="1">
          <a:blip r:embed="rId3">
            <a:alphaModFix/>
          </a:blip>
          <a:srcRect l="3460" r="13366"/>
          <a:stretch/>
        </p:blipFill>
        <p:spPr>
          <a:xfrm>
            <a:off x="6191250" y="395774"/>
            <a:ext cx="5732400" cy="5169000"/>
          </a:xfrm>
          <a:prstGeom prst="roundRect">
            <a:avLst>
              <a:gd name="adj" fmla="val 3478"/>
            </a:avLst>
          </a:prstGeom>
          <a:noFill/>
          <a:ln>
            <a:noFill/>
          </a:ln>
        </p:spPr>
      </p:pic>
      <p:grpSp>
        <p:nvGrpSpPr>
          <p:cNvPr id="567" name="Google Shape;567;p31"/>
          <p:cNvGrpSpPr/>
          <p:nvPr/>
        </p:nvGrpSpPr>
        <p:grpSpPr>
          <a:xfrm>
            <a:off x="571500" y="3286125"/>
            <a:ext cx="5238900" cy="333300"/>
            <a:chOff x="0" y="0"/>
            <a:chExt cx="5238900" cy="333300"/>
          </a:xfrm>
        </p:grpSpPr>
        <p:sp>
          <p:nvSpPr>
            <p:cNvPr id="568" name="Google Shape;568;p31"/>
            <p:cNvSpPr/>
            <p:nvPr/>
          </p:nvSpPr>
          <p:spPr>
            <a:xfrm>
              <a:off x="0" y="0"/>
              <a:ext cx="5238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1"/>
            <p:cNvSpPr txBox="1"/>
            <p:nvPr/>
          </p:nvSpPr>
          <p:spPr>
            <a:xfrm>
              <a:off x="0" y="0"/>
              <a:ext cx="5238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Key Features</a:t>
              </a:r>
              <a:endParaRPr sz="18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70" name="Google Shape;570;p31"/>
          <p:cNvGrpSpPr/>
          <p:nvPr/>
        </p:nvGrpSpPr>
        <p:grpSpPr>
          <a:xfrm>
            <a:off x="571500" y="3762375"/>
            <a:ext cx="285900" cy="315110"/>
            <a:chOff x="0" y="0"/>
            <a:chExt cx="285900" cy="315110"/>
          </a:xfrm>
        </p:grpSpPr>
        <p:sp>
          <p:nvSpPr>
            <p:cNvPr id="571" name="Google Shape;571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gps_fixed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73" name="Google Shape;573;p31"/>
          <p:cNvGrpSpPr/>
          <p:nvPr/>
        </p:nvGrpSpPr>
        <p:grpSpPr>
          <a:xfrm>
            <a:off x="952500" y="3762375"/>
            <a:ext cx="4572000" cy="333300"/>
            <a:chOff x="0" y="0"/>
            <a:chExt cx="4572000" cy="333300"/>
          </a:xfrm>
        </p:grpSpPr>
        <p:sp>
          <p:nvSpPr>
            <p:cNvPr id="574" name="Google Shape;574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GNSS Countermeasure Integration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76" name="Google Shape;576;p31"/>
          <p:cNvGrpSpPr/>
          <p:nvPr/>
        </p:nvGrpSpPr>
        <p:grpSpPr>
          <a:xfrm>
            <a:off x="571500" y="4238625"/>
            <a:ext cx="285900" cy="315110"/>
            <a:chOff x="0" y="0"/>
            <a:chExt cx="285900" cy="315110"/>
          </a:xfrm>
        </p:grpSpPr>
        <p:sp>
          <p:nvSpPr>
            <p:cNvPr id="577" name="Google Shape;577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79" name="Google Shape;579;p31"/>
          <p:cNvGrpSpPr/>
          <p:nvPr/>
        </p:nvGrpSpPr>
        <p:grpSpPr>
          <a:xfrm>
            <a:off x="952500" y="4238625"/>
            <a:ext cx="4572000" cy="333300"/>
            <a:chOff x="0" y="0"/>
            <a:chExt cx="4572000" cy="333300"/>
          </a:xfrm>
        </p:grpSpPr>
        <p:sp>
          <p:nvSpPr>
            <p:cNvPr id="580" name="Google Shape;580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Modular Plug-and-Play Architecture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2" name="Google Shape;582;p31"/>
          <p:cNvGrpSpPr/>
          <p:nvPr/>
        </p:nvGrpSpPr>
        <p:grpSpPr>
          <a:xfrm>
            <a:off x="571500" y="4714875"/>
            <a:ext cx="285900" cy="315110"/>
            <a:chOff x="0" y="0"/>
            <a:chExt cx="285900" cy="315110"/>
          </a:xfrm>
        </p:grpSpPr>
        <p:sp>
          <p:nvSpPr>
            <p:cNvPr id="583" name="Google Shape;583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85" name="Google Shape;585;p31"/>
          <p:cNvGrpSpPr/>
          <p:nvPr/>
        </p:nvGrpSpPr>
        <p:grpSpPr>
          <a:xfrm>
            <a:off x="952500" y="4714875"/>
            <a:ext cx="4572000" cy="333300"/>
            <a:chOff x="0" y="0"/>
            <a:chExt cx="4572000" cy="333300"/>
          </a:xfrm>
        </p:grpSpPr>
        <p:sp>
          <p:nvSpPr>
            <p:cNvPr id="586" name="Google Shape;586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Deployment &amp; Mission Configuration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8" name="Google Shape;588;p31"/>
          <p:cNvGrpSpPr/>
          <p:nvPr/>
        </p:nvGrpSpPr>
        <p:grpSpPr>
          <a:xfrm>
            <a:off x="571500" y="5191125"/>
            <a:ext cx="285900" cy="315110"/>
            <a:chOff x="0" y="0"/>
            <a:chExt cx="285900" cy="315110"/>
          </a:xfrm>
        </p:grpSpPr>
        <p:sp>
          <p:nvSpPr>
            <p:cNvPr id="589" name="Google Shape;589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91" name="Google Shape;591;p31"/>
          <p:cNvGrpSpPr/>
          <p:nvPr/>
        </p:nvGrpSpPr>
        <p:grpSpPr>
          <a:xfrm>
            <a:off x="952500" y="5191125"/>
            <a:ext cx="4572000" cy="333300"/>
            <a:chOff x="0" y="0"/>
            <a:chExt cx="4572000" cy="333300"/>
          </a:xfrm>
        </p:grpSpPr>
        <p:sp>
          <p:nvSpPr>
            <p:cNvPr id="592" name="Google Shape;592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Compatible with Layered Counter-UAS Operations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94" name="Google Shape;594;p31"/>
          <p:cNvSpPr/>
          <p:nvPr/>
        </p:nvSpPr>
        <p:spPr>
          <a:xfrm>
            <a:off x="9286875" y="581025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1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96" name="Google Shape;596;p31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sz="1300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XX</a:t>
              </a:r>
              <a:endParaRPr sz="1700" b="1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7" name="Google Shape;597;p31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3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65 Days</a:t>
              </a:r>
              <a:endParaRPr sz="17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2"/>
          <p:cNvSpPr txBox="1"/>
          <p:nvPr/>
        </p:nvSpPr>
        <p:spPr>
          <a:xfrm>
            <a:off x="571500" y="1476375"/>
            <a:ext cx="4737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50" b="1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Enables integration of future high-energy electromagnetic payloads, enhancing STRIKE with next-generation non-kinetic Counter-UAS capabilities through a modular and upgradeable architecture.</a:t>
            </a:r>
            <a:endParaRPr sz="1550" b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4" name="Google Shape;604;p32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EMP Package</a:t>
            </a:r>
            <a:endParaRPr/>
          </a:p>
        </p:txBody>
      </p:sp>
      <p:sp>
        <p:nvSpPr>
          <p:cNvPr id="605" name="Google Shape;605;p32"/>
          <p:cNvSpPr txBox="1"/>
          <p:nvPr/>
        </p:nvSpPr>
        <p:spPr>
          <a:xfrm>
            <a:off x="571500" y="3095625"/>
            <a:ext cx="52389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 sz="1800" b="1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6" name="Google Shape;606;p32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32"/>
          <p:cNvGrpSpPr/>
          <p:nvPr/>
        </p:nvGrpSpPr>
        <p:grpSpPr>
          <a:xfrm>
            <a:off x="571500" y="3571875"/>
            <a:ext cx="5238900" cy="315110"/>
            <a:chOff x="0" y="0"/>
            <a:chExt cx="5238900" cy="315110"/>
          </a:xfrm>
        </p:grpSpPr>
        <p:sp>
          <p:nvSpPr>
            <p:cNvPr id="608" name="Google Shape;608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09" name="Google Shape;609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Future-Ready EMP Integration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10" name="Google Shape;610;p32"/>
          <p:cNvGrpSpPr/>
          <p:nvPr/>
        </p:nvGrpSpPr>
        <p:grpSpPr>
          <a:xfrm>
            <a:off x="571500" y="3952875"/>
            <a:ext cx="5238900" cy="315110"/>
            <a:chOff x="0" y="0"/>
            <a:chExt cx="5238900" cy="315110"/>
          </a:xfrm>
        </p:grpSpPr>
        <p:sp>
          <p:nvSpPr>
            <p:cNvPr id="611" name="Google Shape;611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power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2" name="Google Shape;612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Modular Mission Payload Interface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13" name="Google Shape;613;p32"/>
          <p:cNvGrpSpPr/>
          <p:nvPr/>
        </p:nvGrpSpPr>
        <p:grpSpPr>
          <a:xfrm>
            <a:off x="571500" y="4333875"/>
            <a:ext cx="5238900" cy="315110"/>
            <a:chOff x="0" y="0"/>
            <a:chExt cx="5238900" cy="315110"/>
          </a:xfrm>
        </p:grpSpPr>
        <p:sp>
          <p:nvSpPr>
            <p:cNvPr id="614" name="Google Shape;614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5" name="Google Shape;615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Advanced Non-Kinetic Defence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16" name="Google Shape;616;p32"/>
          <p:cNvGrpSpPr/>
          <p:nvPr/>
        </p:nvGrpSpPr>
        <p:grpSpPr>
          <a:xfrm>
            <a:off x="571500" y="4714875"/>
            <a:ext cx="5238900" cy="315110"/>
            <a:chOff x="0" y="0"/>
            <a:chExt cx="5238900" cy="315110"/>
          </a:xfrm>
        </p:grpSpPr>
        <p:sp>
          <p:nvSpPr>
            <p:cNvPr id="617" name="Google Shape;617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developer_board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8" name="Google Shape;618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Scalable Power &amp; Control Architecture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19" name="Google Shape;619;p32"/>
          <p:cNvGrpSpPr/>
          <p:nvPr/>
        </p:nvGrpSpPr>
        <p:grpSpPr>
          <a:xfrm>
            <a:off x="571500" y="5095875"/>
            <a:ext cx="5238900" cy="315110"/>
            <a:chOff x="0" y="0"/>
            <a:chExt cx="5238900" cy="315110"/>
          </a:xfrm>
        </p:grpSpPr>
        <p:sp>
          <p:nvSpPr>
            <p:cNvPr id="620" name="Google Shape;620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1" name="Google Shape;621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Open System Design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22" name="Google Shape;622;p32"/>
          <p:cNvGrpSpPr/>
          <p:nvPr/>
        </p:nvGrpSpPr>
        <p:grpSpPr>
          <a:xfrm>
            <a:off x="571500" y="5476875"/>
            <a:ext cx="5238900" cy="315110"/>
            <a:chOff x="0" y="0"/>
            <a:chExt cx="5238900" cy="315110"/>
          </a:xfrm>
        </p:grpSpPr>
        <p:sp>
          <p:nvSpPr>
            <p:cNvPr id="623" name="Google Shape;623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4" name="Google Shape;624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Mission Configuration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25" name="Google Shape;625;p32"/>
          <p:cNvGrpSpPr/>
          <p:nvPr/>
        </p:nvGrpSpPr>
        <p:grpSpPr>
          <a:xfrm>
            <a:off x="571500" y="5857875"/>
            <a:ext cx="5238900" cy="315110"/>
            <a:chOff x="0" y="0"/>
            <a:chExt cx="5238900" cy="315110"/>
          </a:xfrm>
        </p:grpSpPr>
        <p:sp>
          <p:nvSpPr>
            <p:cNvPr id="626" name="Google Shape;626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upgrade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7" name="Google Shape;627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Upgradeable Capability Framework</a:t>
              </a:r>
              <a:endParaRPr sz="135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628" name="Google Shape;6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513" y="1033199"/>
            <a:ext cx="6270862" cy="41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2"/>
          <p:cNvSpPr/>
          <p:nvPr/>
        </p:nvSpPr>
        <p:spPr>
          <a:xfrm>
            <a:off x="6191250" y="5715000"/>
            <a:ext cx="54294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32"/>
          <p:cNvGrpSpPr/>
          <p:nvPr/>
        </p:nvGrpSpPr>
        <p:grpSpPr>
          <a:xfrm>
            <a:off x="6429375" y="5810250"/>
            <a:ext cx="2381400" cy="571500"/>
            <a:chOff x="0" y="0"/>
            <a:chExt cx="2381400" cy="571500"/>
          </a:xfrm>
        </p:grpSpPr>
        <p:sp>
          <p:nvSpPr>
            <p:cNvPr id="631" name="Google Shape;631;p32"/>
            <p:cNvSpPr/>
            <p:nvPr/>
          </p:nvSpPr>
          <p:spPr>
            <a:xfrm>
              <a:off x="0" y="0"/>
              <a:ext cx="2381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2"/>
            <p:cNvSpPr txBox="1"/>
            <p:nvPr/>
          </p:nvSpPr>
          <p:spPr>
            <a:xfrm>
              <a:off x="0" y="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PRICE</a:t>
              </a:r>
              <a:endParaRPr sz="11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–</a:t>
              </a:r>
              <a:endParaRPr sz="18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3" name="Google Shape;633;p32"/>
          <p:cNvGrpSpPr/>
          <p:nvPr/>
        </p:nvGrpSpPr>
        <p:grpSpPr>
          <a:xfrm>
            <a:off x="9286875" y="5810250"/>
            <a:ext cx="2095500" cy="571500"/>
            <a:chOff x="0" y="0"/>
            <a:chExt cx="2095500" cy="571500"/>
          </a:xfrm>
        </p:grpSpPr>
        <p:sp>
          <p:nvSpPr>
            <p:cNvPr id="634" name="Google Shape;634;p32"/>
            <p:cNvSpPr/>
            <p:nvPr/>
          </p:nvSpPr>
          <p:spPr>
            <a:xfrm>
              <a:off x="0" y="0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2"/>
            <p:cNvSpPr txBox="1"/>
            <p:nvPr/>
          </p:nvSpPr>
          <p:spPr>
            <a:xfrm>
              <a:off x="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sz="11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–</a:t>
              </a:r>
              <a:endParaRPr sz="18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00287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300287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300287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05262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33875" y="4005262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0" y="4005262"/>
            <a:ext cx="35242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3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Why S.T.R.I.K.E.</a:t>
            </a:r>
            <a:endParaRPr/>
          </a:p>
        </p:txBody>
      </p:sp>
      <p:sp>
        <p:nvSpPr>
          <p:cNvPr id="648" name="Google Shape;648;p3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3"/>
          <p:cNvSpPr txBox="1"/>
          <p:nvPr/>
        </p:nvSpPr>
        <p:spPr>
          <a:xfrm>
            <a:off x="1033462" y="3109912"/>
            <a:ext cx="2600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Indigenous Technology</a:t>
            </a:r>
            <a:endParaRPr/>
          </a:p>
        </p:txBody>
      </p:sp>
      <p:sp>
        <p:nvSpPr>
          <p:cNvPr id="650" name="Google Shape;650;p33"/>
          <p:cNvSpPr txBox="1"/>
          <p:nvPr/>
        </p:nvSpPr>
        <p:spPr>
          <a:xfrm>
            <a:off x="5480923" y="3109912"/>
            <a:ext cx="123015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 Powered</a:t>
            </a:r>
            <a:endParaRPr/>
          </a:p>
        </p:txBody>
      </p:sp>
      <p:sp>
        <p:nvSpPr>
          <p:cNvPr id="651" name="Google Shape;651;p33"/>
          <p:cNvSpPr txBox="1"/>
          <p:nvPr/>
        </p:nvSpPr>
        <p:spPr>
          <a:xfrm>
            <a:off x="9393316" y="3109912"/>
            <a:ext cx="93011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Modular</a:t>
            </a:r>
            <a:endParaRPr/>
          </a:p>
        </p:txBody>
      </p:sp>
      <p:sp>
        <p:nvSpPr>
          <p:cNvPr id="652" name="Google Shape;652;p33"/>
          <p:cNvSpPr txBox="1"/>
          <p:nvPr/>
        </p:nvSpPr>
        <p:spPr>
          <a:xfrm>
            <a:off x="1278493" y="4814887"/>
            <a:ext cx="21102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Layered Protection</a:t>
            </a:r>
            <a:endParaRPr/>
          </a:p>
        </p:txBody>
      </p:sp>
      <p:sp>
        <p:nvSpPr>
          <p:cNvPr id="653" name="Google Shape;653;p33"/>
          <p:cNvSpPr txBox="1"/>
          <p:nvPr/>
        </p:nvSpPr>
        <p:spPr>
          <a:xfrm>
            <a:off x="5230891" y="4814887"/>
            <a:ext cx="173021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Upgrade Ready</a:t>
            </a:r>
            <a:endParaRPr/>
          </a:p>
        </p:txBody>
      </p:sp>
      <p:sp>
        <p:nvSpPr>
          <p:cNvPr id="654" name="Google Shape;654;p33"/>
          <p:cNvSpPr txBox="1"/>
          <p:nvPr/>
        </p:nvSpPr>
        <p:spPr>
          <a:xfrm>
            <a:off x="8823245" y="4814887"/>
            <a:ext cx="207025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Rapid Deployment</a:t>
            </a:r>
            <a:endParaRPr/>
          </a:p>
        </p:txBody>
      </p:sp>
      <p:pic>
        <p:nvPicPr>
          <p:cNvPr id="655" name="Google Shape;655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81225" y="259556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4550" y="25955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63112" y="259556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162175" y="43005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00737" y="43005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44062" y="4300537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4"/>
          <p:cNvSpPr txBox="1"/>
          <p:nvPr/>
        </p:nvSpPr>
        <p:spPr>
          <a:xfrm>
            <a:off x="693975" y="585100"/>
            <a:ext cx="4122900" cy="49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Autonomous Airspace Security</a:t>
            </a:r>
            <a:endParaRPr sz="1300" b="1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7200" b="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STRIKE</a:t>
            </a:r>
            <a:endParaRPr sz="7200" b="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AI-Powered Counter-UAS Platform Family</a:t>
            </a:r>
            <a:endParaRPr sz="2400" b="0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sz="2400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Designed &amp; Developed By</a:t>
            </a:r>
            <a:endParaRPr sz="1100" b="1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ANMAY DEFENCE</a:t>
            </a:r>
            <a:endParaRPr sz="2200" b="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Engineering the Future of Autonomous Airspace Security</a:t>
            </a:r>
            <a:endParaRPr sz="15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22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67" name="Google Shape;667;p34"/>
          <p:cNvSpPr txBox="1"/>
          <p:nvPr/>
        </p:nvSpPr>
        <p:spPr>
          <a:xfrm>
            <a:off x="425250" y="6129975"/>
            <a:ext cx="113415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phone </a:t>
            </a:r>
            <a:r>
              <a:rPr lang="en-US" b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+91 8828959943</a:t>
            </a:r>
            <a:r>
              <a:rPr lang="en-US" b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|						</a:t>
            </a:r>
            <a:r>
              <a:rPr lang="en-US" sz="1700" b="0" u="sng">
                <a:solidFill>
                  <a:schemeClr val="hlink"/>
                </a:solidFill>
                <a:latin typeface="Material Icons"/>
                <a:ea typeface="Material Icons"/>
                <a:cs typeface="Material Icons"/>
                <a:sym typeface="Material Icons"/>
                <a:hlinkClick r:id="rId4"/>
              </a:rPr>
              <a:t>email</a:t>
            </a:r>
            <a:r>
              <a:rPr lang="en-US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ANMAYDEFENCE@GMAIL.COM</a:t>
            </a:r>
            <a:r>
              <a:rPr lang="en-US" b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|						</a:t>
            </a:r>
            <a:r>
              <a:rPr lang="en-US" sz="1700" b="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place</a:t>
            </a:r>
            <a:r>
              <a:rPr lang="en-US" b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MUMBAI, INDIA</a:t>
            </a:r>
            <a:endParaRPr b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8" name="Google Shape;668;p34" title="Gemini_Generated_Image_shb3mzshb3mzshb3.png"/>
          <p:cNvPicPr preferRelativeResize="0"/>
          <p:nvPr/>
        </p:nvPicPr>
        <p:blipFill rotWithShape="1">
          <a:blip r:embed="rId5">
            <a:alphaModFix/>
          </a:blip>
          <a:srcRect r="12034"/>
          <a:stretch/>
        </p:blipFill>
        <p:spPr>
          <a:xfrm>
            <a:off x="5054850" y="585075"/>
            <a:ext cx="6940549" cy="492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</Words>
  <Application>Microsoft Office PowerPoint</Application>
  <PresentationFormat>Widescreen</PresentationFormat>
  <Paragraphs>319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Poppins ExtraBold</vt:lpstr>
      <vt:lpstr>Arial</vt:lpstr>
      <vt:lpstr>Poppins SemiBold</vt:lpstr>
      <vt:lpstr>Material Icons</vt:lpstr>
      <vt:lpstr>Poppins Medium</vt:lpstr>
      <vt:lpstr>Poppins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Jayesh Sharma</cp:lastModifiedBy>
  <cp:revision>1</cp:revision>
  <dcterms:modified xsi:type="dcterms:W3CDTF">2026-10-17T13:29:39Z</dcterms:modified>
</cp:coreProperties>
</file>