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Poppins"/>
      <p:bold r:id="rId28"/>
      <p:boldItalic r:id="rId29"/>
    </p:embeddedFont>
    <p:embeddedFont>
      <p:font typeface="Lato"/>
      <p:bold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Poppins SemiBold"/>
      <p:regular r:id="rId36"/>
      <p:bold r:id="rId37"/>
      <p:italic r:id="rId38"/>
      <p:boldItalic r:id="rId39"/>
    </p:embeddedFont>
    <p:embeddedFont>
      <p:font typeface="Poppins ExtraBold"/>
      <p:bold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ExtraBold-bold.fntdata"/><Relationship Id="rId20" Type="http://schemas.openxmlformats.org/officeDocument/2006/relationships/slide" Target="slides/slide15.xml"/><Relationship Id="rId41" Type="http://schemas.openxmlformats.org/officeDocument/2006/relationships/font" Target="fonts/PoppinsExtraBold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oppins-bold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PoppinsSemiBold-bold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regular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Italic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557b90389_0_25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f557b90389_0_25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f557b90389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f557b90389_0_24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543082495_0_2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543082495_0_2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557b90389_0_2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557b90389_0_26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0" Type="http://schemas.openxmlformats.org/officeDocument/2006/relationships/image" Target="../media/image10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26.png"/><Relationship Id="rId8" Type="http://schemas.openxmlformats.org/officeDocument/2006/relationships/image" Target="../media/image3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5.jpg"/><Relationship Id="rId9" Type="http://schemas.openxmlformats.org/officeDocument/2006/relationships/image" Target="../media/image30.png"/><Relationship Id="rId5" Type="http://schemas.openxmlformats.org/officeDocument/2006/relationships/image" Target="../media/image23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3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4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5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Relationship Id="rId5" Type="http://schemas.openxmlformats.org/officeDocument/2006/relationships/image" Target="../media/image46.png"/><Relationship Id="rId6" Type="http://schemas.openxmlformats.org/officeDocument/2006/relationships/image" Target="../media/image45.png"/><Relationship Id="rId7" Type="http://schemas.openxmlformats.org/officeDocument/2006/relationships/image" Target="../media/image5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41.png"/><Relationship Id="rId8" Type="http://schemas.openxmlformats.org/officeDocument/2006/relationships/image" Target="../media/image4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70.png"/><Relationship Id="rId8" Type="http://schemas.openxmlformats.org/officeDocument/2006/relationships/image" Target="../media/image5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0.png"/></Relationships>
</file>

<file path=ppt/slides/_rels/slide2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7.png"/><Relationship Id="rId10" Type="http://schemas.openxmlformats.org/officeDocument/2006/relationships/image" Target="../media/image63.png"/><Relationship Id="rId13" Type="http://schemas.openxmlformats.org/officeDocument/2006/relationships/image" Target="../media/image56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9" Type="http://schemas.openxmlformats.org/officeDocument/2006/relationships/image" Target="../media/image9.png"/><Relationship Id="rId14" Type="http://schemas.openxmlformats.org/officeDocument/2006/relationships/image" Target="../media/image66.png"/><Relationship Id="rId5" Type="http://schemas.openxmlformats.org/officeDocument/2006/relationships/image" Target="../media/image69.png"/><Relationship Id="rId6" Type="http://schemas.openxmlformats.org/officeDocument/2006/relationships/image" Target="../media/image58.png"/><Relationship Id="rId7" Type="http://schemas.openxmlformats.org/officeDocument/2006/relationships/image" Target="../media/image64.png"/><Relationship Id="rId8" Type="http://schemas.openxmlformats.org/officeDocument/2006/relationships/image" Target="../media/image6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hyperlink" Target="mailto:emailANMAYDEFENCE@GMAIL.COM" TargetMode="External"/><Relationship Id="rId5" Type="http://schemas.openxmlformats.org/officeDocument/2006/relationships/hyperlink" Target="mailto:emailANMAYDEFENCE@GMAIL.COM" TargetMode="External"/><Relationship Id="rId6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762000" y="762000"/>
            <a:ext cx="57300" cy="10479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009650" y="762000"/>
            <a:ext cx="47625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PRAHAR NETRA</a:t>
            </a:r>
            <a:endParaRPr b="0" sz="44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AI-Powered Counter-UAS Platform Family</a:t>
            </a:r>
            <a:endParaRPr b="0" sz="15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>
            <a:off x="762000" y="2095500"/>
            <a:ext cx="4953000" cy="2476500"/>
            <a:chOff x="0" y="0"/>
            <a:chExt cx="4953000" cy="247650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4953000" cy="2476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0"/>
              <a:ext cx="4953000" cy="2476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285750" lIns="285750" spcFirstLastPara="1" rIns="285750" wrap="square" tIns="2857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Platform Capability Definition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redictive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econnaissance &amp;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utonomous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H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ostile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erial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esponse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N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etworked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E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ngagement </a:t>
              </a:r>
              <a:r>
                <a:rPr b="0" lang="en-US" sz="1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and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arget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ecognition </a:t>
              </a: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A</a:t>
              </a:r>
              <a:r>
                <a:rPr b="1" lang="en-US" sz="14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rchitecture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90" name="Google Shape;90;p13"/>
          <p:cNvSpPr txBox="1"/>
          <p:nvPr/>
        </p:nvSpPr>
        <p:spPr>
          <a:xfrm>
            <a:off x="762000" y="4857750"/>
            <a:ext cx="4953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Designed &amp; Developed By</a:t>
            </a:r>
            <a:endParaRPr b="1" sz="1000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ANMAY DEFENCE</a:t>
            </a:r>
            <a:endParaRPr b="0" sz="24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1" lang="en-US" sz="12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Engineering the Future of Autonomous Airspace Security</a:t>
            </a:r>
            <a:endParaRPr b="0" i="1" sz="1250">
              <a:solidFill>
                <a:srgbClr val="2563E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112150" y="514200"/>
            <a:ext cx="5795700" cy="5848800"/>
          </a:xfrm>
          <a:prstGeom prst="roundRect">
            <a:avLst>
              <a:gd fmla="val 2962" name="adj"/>
            </a:avLst>
          </a:prstGeom>
          <a:solidFill>
            <a:srgbClr val="000000">
              <a:alpha val="0"/>
            </a:srgbClr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b="0" l="3583" r="3592" t="0"/>
          <a:stretch/>
        </p:blipFill>
        <p:spPr>
          <a:xfrm>
            <a:off x="5962500" y="438000"/>
            <a:ext cx="5848800" cy="5848800"/>
          </a:xfrm>
          <a:prstGeom prst="roundRect">
            <a:avLst>
              <a:gd fmla="val 2962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633537"/>
            <a:ext cx="5238750" cy="4505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633537"/>
            <a:ext cx="5238750" cy="45053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About Anmay Defence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2024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Who We Are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2614595"/>
            <a:ext cx="4457700" cy="2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Anmay Defence, a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brand name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of Anmay Autonomous Systems Pvt. Ltd., develops indigenous AI-powered autonomous defence technologies designed to enhance airspace security through intelligent surveillance, autonomous tracking, and modular counter-UAS platforms.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2024062"/>
            <a:ext cx="468058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Core Areas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105650" y="261461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Counter-UAS Systems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7105650" y="3062287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Artificial Intelligence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105650" y="350996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Embedded Electronics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7105650" y="3957637"/>
            <a:ext cx="412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Autonomous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System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105650" y="440531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Computer Vision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7105650" y="4852987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Defence Communication Systems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7105650" y="5300662"/>
            <a:ext cx="41243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Electronic Warfare Integration</a:t>
            </a:r>
            <a:endParaRPr/>
          </a:p>
        </p:txBody>
      </p:sp>
      <p:pic>
        <p:nvPicPr>
          <p:cNvPr descr="image.png" id="112" name="Google Shape;11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26479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0956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543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39909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44386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4886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72275" y="5334000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14375" y="571500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Modern Drone Threat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571500" y="2016450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Today's battlefields are rapidly evolving with the widespread use of commercial and military unmanned aerial systems. Conventional surveillance solutions often struggle against low-altitude, high-speed, and swarm drone attacks.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571500" y="370522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Challenges</a:t>
            </a:r>
            <a:endParaRPr/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21338" y="1895475"/>
            <a:ext cx="5159424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904875" y="42291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Swarm Attacks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04875" y="4676775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 Altitude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04875" y="5124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Small Radar CS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3714750" y="422910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Autonomous Nav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3714750" y="4676775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 Range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3714750" y="51244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Electronic Warfare</a:t>
            </a:r>
            <a:endParaRPr/>
          </a:p>
        </p:txBody>
      </p:sp>
      <p:pic>
        <p:nvPicPr>
          <p:cNvPr descr="image.png" id="136" name="Google Shape;13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624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710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157787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381375" y="42624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81375" y="47101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81375" y="5157787"/>
            <a:ext cx="238125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PRAHAR NETRA 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Product Family</a:t>
            </a:r>
            <a:endParaRPr/>
          </a:p>
        </p:txBody>
      </p:sp>
      <p:sp>
        <p:nvSpPr>
          <p:cNvPr id="148" name="Google Shape;148;p16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16"/>
          <p:cNvGrpSpPr/>
          <p:nvPr/>
        </p:nvGrpSpPr>
        <p:grpSpPr>
          <a:xfrm>
            <a:off x="571500" y="1714500"/>
            <a:ext cx="3429000" cy="4374547"/>
            <a:chOff x="0" y="0"/>
            <a:chExt cx="3429000" cy="4000500"/>
          </a:xfrm>
        </p:grpSpPr>
        <p:sp>
          <p:nvSpPr>
            <p:cNvPr id="150" name="Google Shape;150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01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PRAHAR NETRA </a:t>
              </a:r>
              <a:r>
                <a:rPr b="1" lang="en-US" sz="2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Gen1</a:t>
              </a:r>
              <a:endParaRPr b="1" sz="2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1-Layer Defence Protection System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AI Vision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Autonomous Tracking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Architecture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360° Surveillance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Static &amp; Vehicle Mounting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3" name="Google Shape;153;p16"/>
          <p:cNvGrpSpPr/>
          <p:nvPr/>
        </p:nvGrpSpPr>
        <p:grpSpPr>
          <a:xfrm>
            <a:off x="4381500" y="1714500"/>
            <a:ext cx="3429000" cy="4398950"/>
            <a:chOff x="0" y="0"/>
            <a:chExt cx="3429000" cy="4000500"/>
          </a:xfrm>
        </p:grpSpPr>
        <p:sp>
          <p:nvSpPr>
            <p:cNvPr id="154" name="Google Shape;154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fmla="val 50000" name="adj"/>
              </a:avLst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02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PRAHAR NETRA </a:t>
              </a:r>
              <a:r>
                <a:rPr b="1" lang="en-US" sz="2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Gen2</a:t>
              </a:r>
              <a:endParaRPr b="1" sz="2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2-Layer Defence Protection System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marR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2563EB"/>
                  </a:solidFill>
                  <a:latin typeface="Lato"/>
                  <a:ea typeface="Lato"/>
                  <a:cs typeface="Lato"/>
                  <a:sym typeface="Lato"/>
                </a:rPr>
                <a:t>Gen 1 capabilities plus:</a:t>
              </a:r>
              <a:endParaRPr b="1" sz="135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12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Extended Detection Range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Day &amp; Night Vision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LiDAR-Assisted Target Identification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Integrated Electronic Warfare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Long-Range Operations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5 km Optical Fiber Control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90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2 km Wireless Video Transmission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7" name="Google Shape;157;p16"/>
          <p:cNvGrpSpPr/>
          <p:nvPr/>
        </p:nvGrpSpPr>
        <p:grpSpPr>
          <a:xfrm>
            <a:off x="8191500" y="1714500"/>
            <a:ext cx="3429000" cy="4374547"/>
            <a:chOff x="0" y="0"/>
            <a:chExt cx="3429000" cy="4000500"/>
          </a:xfrm>
        </p:grpSpPr>
        <p:sp>
          <p:nvSpPr>
            <p:cNvPr id="158" name="Google Shape;158;p1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6"/>
            <p:cNvSpPr/>
            <p:nvPr/>
          </p:nvSpPr>
          <p:spPr>
            <a:xfrm>
              <a:off x="0" y="0"/>
              <a:ext cx="3429000" cy="114300"/>
            </a:xfrm>
            <a:prstGeom prst="roundRect">
              <a:avLst>
                <a:gd fmla="val 50000" name="adj"/>
              </a:avLst>
            </a:prstGeom>
            <a:solidFill>
              <a:srgbClr val="64748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6"/>
            <p:cNvSpPr txBox="1"/>
            <p:nvPr/>
          </p:nvSpPr>
          <p:spPr>
            <a:xfrm>
              <a:off x="228600" y="304800"/>
              <a:ext cx="29718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Generation 03</a:t>
              </a:r>
              <a:endParaRPr b="1" sz="12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21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Future Generations</a:t>
              </a:r>
              <a:endParaRPr b="1" sz="2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Gen 2 + Next-Gen Architectures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Directed energy integration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Swarm defeat logic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Full autonomous networks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Compatible with moving 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vehicle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-3143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350"/>
                <a:buFont typeface="Lato"/>
                <a:buChar char="●"/>
              </a:pP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Drone 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Integration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from Long range 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Surveillance</a:t>
              </a:r>
              <a:r>
                <a:rPr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endParaRPr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1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i="1" lang="en-US" sz="1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Currently in Research &amp; Development Stage</a:t>
              </a:r>
              <a:endParaRPr i="1" sz="10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"/>
          <p:cNvSpPr txBox="1"/>
          <p:nvPr/>
        </p:nvSpPr>
        <p:spPr>
          <a:xfrm>
            <a:off x="571500" y="571500"/>
            <a:ext cx="5980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PRAHAR NETRA </a:t>
            </a:r>
            <a:r>
              <a:rPr b="1" i="0" lang="en-US" sz="45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Gen1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571500" y="1696762"/>
            <a:ext cx="2530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Platform Overview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571500" y="2224075"/>
            <a:ext cx="4887300" cy="3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PRAHAR NETRA Gen 1 represents the next generation of indigenous Counter-UAS technology, combining AI-driven situational awareness, autonomous target tracking, precision engagement, and modular mission configurations within a scalable defence platform. Built on an open and upgradeable architecture, PRAHAR NETRA Gen 1 enables the seamless integration of advanced sensors, electronic warfare systems, and future mission capabilities to meet evolving operational requirements.</a:t>
            </a:r>
            <a:endParaRPr sz="1500"/>
          </a:p>
        </p:txBody>
      </p:sp>
      <p:grpSp>
        <p:nvGrpSpPr>
          <p:cNvPr id="168" name="Google Shape;168;p17"/>
          <p:cNvGrpSpPr/>
          <p:nvPr/>
        </p:nvGrpSpPr>
        <p:grpSpPr>
          <a:xfrm>
            <a:off x="633825" y="5849800"/>
            <a:ext cx="4762650" cy="762000"/>
            <a:chOff x="190500" y="142875"/>
            <a:chExt cx="4762650" cy="762000"/>
          </a:xfrm>
        </p:grpSpPr>
        <p:sp>
          <p:nvSpPr>
            <p:cNvPr id="169" name="Google Shape;169;p17"/>
            <p:cNvSpPr txBox="1"/>
            <p:nvPr/>
          </p:nvSpPr>
          <p:spPr>
            <a:xfrm>
              <a:off x="19050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</a:t>
              </a:r>
              <a:r>
                <a:rPr b="1" lang="en-US" sz="20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3,10,000</a:t>
              </a:r>
              <a:endParaRPr b="1" sz="20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276225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b="1" sz="2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171" name="Google Shape;171;p1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20822" r="20822" t="0"/>
          <a:stretch/>
        </p:blipFill>
        <p:spPr>
          <a:xfrm>
            <a:off x="6861225" y="289350"/>
            <a:ext cx="4887301" cy="6281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Gen1 </a:t>
            </a: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Specifications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" name="Google Shape;180;p18"/>
          <p:cNvGrpSpPr/>
          <p:nvPr/>
        </p:nvGrpSpPr>
        <p:grpSpPr>
          <a:xfrm>
            <a:off x="571425" y="1357350"/>
            <a:ext cx="5238900" cy="714300"/>
            <a:chOff x="0" y="0"/>
            <a:chExt cx="5238900" cy="714300"/>
          </a:xfrm>
        </p:grpSpPr>
        <p:sp>
          <p:nvSpPr>
            <p:cNvPr id="181" name="Google Shape;181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Detection Range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700 m (10ft + Drone)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3" name="Google Shape;183;p18"/>
          <p:cNvGrpSpPr/>
          <p:nvPr/>
        </p:nvGrpSpPr>
        <p:grpSpPr>
          <a:xfrm>
            <a:off x="571425" y="2214600"/>
            <a:ext cx="5238900" cy="714300"/>
            <a:chOff x="0" y="0"/>
            <a:chExt cx="5238900" cy="714300"/>
          </a:xfrm>
        </p:grpSpPr>
        <p:sp>
          <p:nvSpPr>
            <p:cNvPr id="184" name="Google Shape;184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85" name="Google Shape;185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Drone Types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Quadcopter, VTOL, Fixed Wing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6" name="Google Shape;186;p18"/>
          <p:cNvGrpSpPr/>
          <p:nvPr/>
        </p:nvGrpSpPr>
        <p:grpSpPr>
          <a:xfrm>
            <a:off x="571425" y="3071850"/>
            <a:ext cx="5238900" cy="714300"/>
            <a:chOff x="0" y="0"/>
            <a:chExt cx="5238900" cy="714300"/>
          </a:xfrm>
        </p:grpSpPr>
        <p:sp>
          <p:nvSpPr>
            <p:cNvPr id="187" name="Google Shape;187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Communication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 LoRa(+1km), WiFi, BLE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571425" y="3929100"/>
            <a:ext cx="5238900" cy="714300"/>
            <a:chOff x="0" y="0"/>
            <a:chExt cx="5238900" cy="714300"/>
          </a:xfrm>
        </p:grpSpPr>
        <p:sp>
          <p:nvSpPr>
            <p:cNvPr id="190" name="Google Shape;190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91" name="Google Shape;191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Power Requirement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24VDC</a:t>
              </a:r>
              <a:endParaRPr b="0" sz="17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2" name="Google Shape;192;p18"/>
          <p:cNvGrpSpPr/>
          <p:nvPr/>
        </p:nvGrpSpPr>
        <p:grpSpPr>
          <a:xfrm>
            <a:off x="571425" y="4786350"/>
            <a:ext cx="5238900" cy="714300"/>
            <a:chOff x="0" y="0"/>
            <a:chExt cx="5238900" cy="714300"/>
          </a:xfrm>
        </p:grpSpPr>
        <p:sp>
          <p:nvSpPr>
            <p:cNvPr id="193" name="Google Shape;193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Mounting Options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Vehicle Mount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6381675" y="1357350"/>
            <a:ext cx="5238900" cy="714300"/>
            <a:chOff x="0" y="0"/>
            <a:chExt cx="5238900" cy="714300"/>
          </a:xfrm>
        </p:grpSpPr>
        <p:sp>
          <p:nvSpPr>
            <p:cNvPr id="196" name="Google Shape;196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97" name="Google Shape;197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Rotation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360° Continuous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98" name="Google Shape;198;p18"/>
          <p:cNvGrpSpPr/>
          <p:nvPr/>
        </p:nvGrpSpPr>
        <p:grpSpPr>
          <a:xfrm>
            <a:off x="6381675" y="2214600"/>
            <a:ext cx="5238900" cy="714300"/>
            <a:chOff x="0" y="0"/>
            <a:chExt cx="5238900" cy="714300"/>
          </a:xfrm>
        </p:grpSpPr>
        <p:sp>
          <p:nvSpPr>
            <p:cNvPr id="199" name="Google Shape;199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Elevation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75°</a:t>
              </a:r>
              <a:endParaRPr b="0" sz="17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6381675" y="3071850"/>
            <a:ext cx="5238900" cy="714300"/>
            <a:chOff x="0" y="0"/>
            <a:chExt cx="5238900" cy="714300"/>
          </a:xfrm>
        </p:grpSpPr>
        <p:sp>
          <p:nvSpPr>
            <p:cNvPr id="202" name="Google Shape;202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03" name="Google Shape;203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Trigger Units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5 Independent Rifles 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4" name="Google Shape;204;p18"/>
          <p:cNvGrpSpPr/>
          <p:nvPr/>
        </p:nvGrpSpPr>
        <p:grpSpPr>
          <a:xfrm>
            <a:off x="6381675" y="3929100"/>
            <a:ext cx="5238900" cy="714300"/>
            <a:chOff x="0" y="0"/>
            <a:chExt cx="5238900" cy="714300"/>
          </a:xfrm>
        </p:grpSpPr>
        <p:sp>
          <p:nvSpPr>
            <p:cNvPr id="205" name="Google Shape;205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Deployment Time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&lt;10 Minutes</a:t>
              </a:r>
              <a:endParaRPr b="0" sz="17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07" name="Google Shape;207;p18"/>
          <p:cNvGrpSpPr/>
          <p:nvPr/>
        </p:nvGrpSpPr>
        <p:grpSpPr>
          <a:xfrm>
            <a:off x="6381675" y="4786350"/>
            <a:ext cx="5238900" cy="714300"/>
            <a:chOff x="0" y="0"/>
            <a:chExt cx="5238900" cy="714300"/>
          </a:xfrm>
        </p:grpSpPr>
        <p:sp>
          <p:nvSpPr>
            <p:cNvPr id="208" name="Google Shape;208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09" name="Google Shape;209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Operation Modes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Auto / Manual </a:t>
              </a:r>
              <a:r>
                <a:rPr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Modes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210" name="Google Shape;210;p18"/>
          <p:cNvGrpSpPr/>
          <p:nvPr/>
        </p:nvGrpSpPr>
        <p:grpSpPr>
          <a:xfrm>
            <a:off x="571425" y="5643600"/>
            <a:ext cx="5238900" cy="714300"/>
            <a:chOff x="0" y="0"/>
            <a:chExt cx="5238900" cy="714300"/>
          </a:xfrm>
        </p:grpSpPr>
        <p:sp>
          <p:nvSpPr>
            <p:cNvPr id="211" name="Google Shape;211;p18"/>
            <p:cNvSpPr/>
            <p:nvPr/>
          </p:nvSpPr>
          <p:spPr>
            <a:xfrm>
              <a:off x="0" y="0"/>
              <a:ext cx="5238900" cy="7143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212" name="Google Shape;212;p18"/>
            <p:cNvSpPr txBox="1"/>
            <p:nvPr/>
          </p:nvSpPr>
          <p:spPr>
            <a:xfrm>
              <a:off x="190500" y="0"/>
              <a:ext cx="4857900" cy="71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Protection Layer</a:t>
              </a:r>
              <a:endParaRPr b="1" sz="12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 1 Layer (Kinetic)</a:t>
              </a:r>
              <a:endParaRPr b="0" sz="1600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descr="image.png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1825" y="5988837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/>
          <p:nvPr/>
        </p:nvSpPr>
        <p:spPr>
          <a:xfrm>
            <a:off x="7736625" y="5940975"/>
            <a:ext cx="3000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Made in India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5" name="Google Shape;215;p18"/>
          <p:cNvSpPr txBox="1"/>
          <p:nvPr/>
        </p:nvSpPr>
        <p:spPr>
          <a:xfrm>
            <a:off x="6381675" y="6415088"/>
            <a:ext cx="570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Fully indigenous development, ensuring supply chain security and sovereignty.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Gen1 Mission Packages</a:t>
            </a:r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19"/>
          <p:cNvGrpSpPr/>
          <p:nvPr/>
        </p:nvGrpSpPr>
        <p:grpSpPr>
          <a:xfrm>
            <a:off x="485775" y="1428750"/>
            <a:ext cx="2076600" cy="4381500"/>
            <a:chOff x="0" y="0"/>
            <a:chExt cx="2076600" cy="4381500"/>
          </a:xfrm>
        </p:grpSpPr>
        <p:sp>
          <p:nvSpPr>
            <p:cNvPr id="224" name="Google Shape;224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fmla="val 733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25" name="Google Shape;225;p19"/>
            <p:cNvPicPr preferRelativeResize="0"/>
            <p:nvPr/>
          </p:nvPicPr>
          <p:blipFill rotWithShape="1">
            <a:blip r:embed="rId3">
              <a:alphaModFix/>
            </a:blip>
            <a:srcRect b="4187" l="0" r="0" t="4187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RF Early Warning</a:t>
              </a:r>
              <a:endParaRPr b="1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Detects drone communication signals from over 2 km, triggering automated AI tracking to optimize power consumption.</a:t>
              </a:r>
              <a:endParaRPr b="0" sz="12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27" name="Google Shape;227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28" name="Google Shape;228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 RF</a:t>
                </a:r>
                <a:endParaRPr b="1" sz="13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30" name="Google Shape;230;p19"/>
          <p:cNvGrpSpPr/>
          <p:nvPr/>
        </p:nvGrpSpPr>
        <p:grpSpPr>
          <a:xfrm>
            <a:off x="2771775" y="1428750"/>
            <a:ext cx="2076600" cy="4381500"/>
            <a:chOff x="0" y="0"/>
            <a:chExt cx="2076600" cy="4381500"/>
          </a:xfrm>
        </p:grpSpPr>
        <p:sp>
          <p:nvSpPr>
            <p:cNvPr id="231" name="Google Shape;231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fmla="val 733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2" name="Google Shape;232;p19"/>
            <p:cNvPicPr preferRelativeResize="0"/>
            <p:nvPr/>
          </p:nvPicPr>
          <p:blipFill rotWithShape="1">
            <a:blip r:embed="rId4">
              <a:alphaModFix/>
            </a:blip>
            <a:srcRect b="4162" l="0" r="0" t="4171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Optical Fiber</a:t>
              </a:r>
              <a:endParaRPr b="1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Provides secure, jammer-resistant command links and live HD video transmission over distances exceeding 5 km.</a:t>
              </a:r>
              <a:endParaRPr b="0" sz="12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34" name="Google Shape;234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35" name="Google Shape;235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OF</a:t>
                </a:r>
                <a:endParaRPr b="1" sz="13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37" name="Google Shape;237;p19"/>
          <p:cNvGrpSpPr/>
          <p:nvPr/>
        </p:nvGrpSpPr>
        <p:grpSpPr>
          <a:xfrm>
            <a:off x="5057775" y="1428750"/>
            <a:ext cx="2076600" cy="4381500"/>
            <a:chOff x="0" y="0"/>
            <a:chExt cx="2076600" cy="4381500"/>
          </a:xfrm>
        </p:grpSpPr>
        <p:sp>
          <p:nvSpPr>
            <p:cNvPr id="238" name="Google Shape;238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fmla="val 733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39" name="Google Shape;239;p19"/>
            <p:cNvPicPr preferRelativeResize="0"/>
            <p:nvPr/>
          </p:nvPicPr>
          <p:blipFill rotWithShape="1">
            <a:blip r:embed="rId5">
              <a:alphaModFix/>
            </a:blip>
            <a:srcRect b="4162" l="0" r="0" t="4171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Electronic Warfare</a:t>
              </a:r>
              <a:endParaRPr b="1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Delivers advanced radio frequency counter-measures and signal disruption in contested tactical environments.</a:t>
              </a:r>
              <a:endParaRPr b="0" sz="12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41" name="Google Shape;241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42" name="Google Shape;242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EW</a:t>
                </a:r>
                <a:endParaRPr b="1" sz="13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44" name="Google Shape;244;p19"/>
          <p:cNvGrpSpPr/>
          <p:nvPr/>
        </p:nvGrpSpPr>
        <p:grpSpPr>
          <a:xfrm>
            <a:off x="7343775" y="1428750"/>
            <a:ext cx="2076600" cy="4381500"/>
            <a:chOff x="0" y="0"/>
            <a:chExt cx="2076600" cy="4381500"/>
          </a:xfrm>
        </p:grpSpPr>
        <p:sp>
          <p:nvSpPr>
            <p:cNvPr id="245" name="Google Shape;245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fmla="val 733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6" name="Google Shape;246;p19"/>
            <p:cNvPicPr preferRelativeResize="0"/>
            <p:nvPr/>
          </p:nvPicPr>
          <p:blipFill rotWithShape="1">
            <a:blip r:embed="rId6">
              <a:alphaModFix/>
            </a:blip>
            <a:srcRect b="4162" l="0" r="0" t="4171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7" name="Google Shape;247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Solar Power</a:t>
              </a:r>
              <a:endParaRPr b="1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Extends tactical mission endurance using high-efficiency, rapidly deployable solar harvesting units.</a:t>
              </a:r>
              <a:endParaRPr b="0" sz="12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48" name="Google Shape;248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49" name="Google Shape;249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SP</a:t>
                </a:r>
                <a:endParaRPr b="1" sz="13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251" name="Google Shape;251;p19"/>
          <p:cNvGrpSpPr/>
          <p:nvPr/>
        </p:nvGrpSpPr>
        <p:grpSpPr>
          <a:xfrm>
            <a:off x="9629775" y="1428750"/>
            <a:ext cx="2076600" cy="4381500"/>
            <a:chOff x="0" y="0"/>
            <a:chExt cx="2076600" cy="4381500"/>
          </a:xfrm>
        </p:grpSpPr>
        <p:sp>
          <p:nvSpPr>
            <p:cNvPr id="252" name="Google Shape;252;p19"/>
            <p:cNvSpPr/>
            <p:nvPr/>
          </p:nvSpPr>
          <p:spPr>
            <a:xfrm>
              <a:off x="0" y="0"/>
              <a:ext cx="2076600" cy="4381500"/>
            </a:xfrm>
            <a:prstGeom prst="roundRect">
              <a:avLst>
                <a:gd fmla="val 7339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53" name="Google Shape;253;p19"/>
            <p:cNvPicPr preferRelativeResize="0"/>
            <p:nvPr/>
          </p:nvPicPr>
          <p:blipFill rotWithShape="1">
            <a:blip r:embed="rId7">
              <a:alphaModFix/>
            </a:blip>
            <a:srcRect b="14774" l="0" r="0" t="14774"/>
            <a:stretch/>
          </p:blipFill>
          <p:spPr>
            <a:xfrm>
              <a:off x="95250" y="95250"/>
              <a:ext cx="1886100" cy="12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19"/>
            <p:cNvSpPr txBox="1"/>
            <p:nvPr/>
          </p:nvSpPr>
          <p:spPr>
            <a:xfrm>
              <a:off x="114300" y="1524000"/>
              <a:ext cx="18480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Multi-Weapon</a:t>
              </a:r>
              <a:endParaRPr b="1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Supports multiple independent weapon configurations for enhanced engagement capability.</a:t>
              </a:r>
              <a:endParaRPr b="0" sz="12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55" name="Google Shape;255;p19"/>
            <p:cNvGrpSpPr/>
            <p:nvPr/>
          </p:nvGrpSpPr>
          <p:grpSpPr>
            <a:xfrm>
              <a:off x="114300" y="3810000"/>
              <a:ext cx="1848000" cy="457200"/>
              <a:chOff x="0" y="0"/>
              <a:chExt cx="1848000" cy="457200"/>
            </a:xfrm>
          </p:grpSpPr>
          <p:sp>
            <p:nvSpPr>
              <p:cNvPr id="256" name="Google Shape;256;p19"/>
              <p:cNvSpPr/>
              <p:nvPr/>
            </p:nvSpPr>
            <p:spPr>
              <a:xfrm>
                <a:off x="0" y="0"/>
                <a:ext cx="1848000" cy="457200"/>
              </a:xfrm>
              <a:prstGeom prst="roundRect">
                <a:avLst>
                  <a:gd fmla="val 16666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9"/>
              <p:cNvSpPr txBox="1"/>
              <p:nvPr/>
            </p:nvSpPr>
            <p:spPr>
              <a:xfrm>
                <a:off x="0" y="0"/>
                <a:ext cx="18480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0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</a:t>
                </a:r>
                <a:endParaRPr b="1" sz="13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258" name="Google Shape;258;p19"/>
          <p:cNvSpPr txBox="1"/>
          <p:nvPr/>
        </p:nvSpPr>
        <p:spPr>
          <a:xfrm>
            <a:off x="571500" y="6534000"/>
            <a:ext cx="11049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Modular capability upgrades that can be integrated with PRAHAR NETRA Gen1 to enhance mission effectiveness and operational flexibility.</a:t>
            </a:r>
            <a:endParaRPr sz="1350">
              <a:solidFill>
                <a:srgbClr val="4755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0"/>
          <p:cNvSpPr txBox="1"/>
          <p:nvPr/>
        </p:nvSpPr>
        <p:spPr>
          <a:xfrm>
            <a:off x="714375" y="414337"/>
            <a:ext cx="11451431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RF Early Warning Package</a:t>
            </a:r>
            <a:endParaRPr/>
          </a:p>
        </p:txBody>
      </p:sp>
      <p:sp>
        <p:nvSpPr>
          <p:cNvPr id="265" name="Google Shape;265;p20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571500" y="136683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267" name="Google Shape;267;p20"/>
          <p:cNvSpPr txBox="1"/>
          <p:nvPr/>
        </p:nvSpPr>
        <p:spPr>
          <a:xfrm>
            <a:off x="571500" y="1738300"/>
            <a:ext cx="5076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RF Early Warning Package detects drone communication signals from distances exceeding 2 km. Upon detecting an RF signature, the AI vision system automatically activates, enabling faster target acquisition while significantly reducing overall power consumption.</a:t>
            </a:r>
            <a:endParaRPr/>
          </a:p>
        </p:txBody>
      </p:sp>
      <p:sp>
        <p:nvSpPr>
          <p:cNvPr id="268" name="Google Shape;268;p20"/>
          <p:cNvSpPr txBox="1"/>
          <p:nvPr/>
        </p:nvSpPr>
        <p:spPr>
          <a:xfrm>
            <a:off x="571500" y="369093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269" name="Google Shape;269;p20"/>
          <p:cNvSpPr txBox="1"/>
          <p:nvPr/>
        </p:nvSpPr>
        <p:spPr>
          <a:xfrm>
            <a:off x="904875" y="41671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 km+ RF Detection Range</a:t>
            </a:r>
            <a:endParaRPr/>
          </a:p>
        </p:txBody>
      </p:sp>
      <p:sp>
        <p:nvSpPr>
          <p:cNvPr id="270" name="Google Shape;270;p20"/>
          <p:cNvSpPr txBox="1"/>
          <p:nvPr/>
        </p:nvSpPr>
        <p:spPr>
          <a:xfrm>
            <a:off x="904875" y="46148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Automatic AI Activation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904875" y="50625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Early Threat Warning</a:t>
            </a:r>
            <a:endParaRPr/>
          </a:p>
        </p:txBody>
      </p:sp>
      <p:sp>
        <p:nvSpPr>
          <p:cNvPr id="272" name="Google Shape;272;p20"/>
          <p:cNvSpPr txBox="1"/>
          <p:nvPr/>
        </p:nvSpPr>
        <p:spPr>
          <a:xfrm>
            <a:off x="904875" y="55102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Lower Power Consumption</a:t>
            </a:r>
            <a:endParaRPr/>
          </a:p>
        </p:txBody>
      </p:sp>
      <p:sp>
        <p:nvSpPr>
          <p:cNvPr id="273" name="Google Shape;273;p20"/>
          <p:cNvSpPr txBox="1"/>
          <p:nvPr/>
        </p:nvSpPr>
        <p:spPr>
          <a:xfrm>
            <a:off x="904875" y="59578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Extended Mission Endurance</a:t>
            </a:r>
            <a:endParaRPr/>
          </a:p>
        </p:txBody>
      </p:sp>
      <p:pic>
        <p:nvPicPr>
          <p:cNvPr descr="image.png" id="274" name="Google Shape;2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005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482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0958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543550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99122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 drone Jammer RF Detection near system also remove Number placed on Vechicle " id="279" name="Google Shape;279;p20"/>
          <p:cNvPicPr preferRelativeResize="0"/>
          <p:nvPr/>
        </p:nvPicPr>
        <p:blipFill rotWithShape="1">
          <a:blip r:embed="rId8">
            <a:alphaModFix/>
          </a:blip>
          <a:srcRect b="0" l="0" r="15966" t="0"/>
          <a:stretch/>
        </p:blipFill>
        <p:spPr>
          <a:xfrm>
            <a:off x="6003975" y="315250"/>
            <a:ext cx="6107300" cy="5447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20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281" name="Google Shape;281;p20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7 - 10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2" name="Google Shape;282;p20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83" name="Google Shape;283;p20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RF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752475" y="448862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Optical Fiber Package</a:t>
            </a:r>
            <a:endParaRPr/>
          </a:p>
        </p:txBody>
      </p:sp>
      <p:sp>
        <p:nvSpPr>
          <p:cNvPr id="291" name="Google Shape;291;p21"/>
          <p:cNvSpPr/>
          <p:nvPr/>
        </p:nvSpPr>
        <p:spPr>
          <a:xfrm>
            <a:off x="571500" y="566737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1"/>
          <p:cNvSpPr txBox="1"/>
          <p:nvPr/>
        </p:nvSpPr>
        <p:spPr>
          <a:xfrm>
            <a:off x="571500" y="151923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293" name="Google Shape;293;p21"/>
          <p:cNvSpPr txBox="1"/>
          <p:nvPr/>
        </p:nvSpPr>
        <p:spPr>
          <a:xfrm>
            <a:off x="571500" y="2033587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Provides secure optical fiber-based command, control, and live video transmission over distances exceeding 5 km, ensuring uninterrupted operation in electronically contested environments where wireless communication may be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Jammed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94" name="Google Shape;294;p21"/>
          <p:cNvSpPr txBox="1"/>
          <p:nvPr/>
        </p:nvSpPr>
        <p:spPr>
          <a:xfrm>
            <a:off x="571500" y="353853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pic>
        <p:nvPicPr>
          <p:cNvPr id="295" name="Google Shape;295;p21"/>
          <p:cNvPicPr preferRelativeResize="0"/>
          <p:nvPr/>
        </p:nvPicPr>
        <p:blipFill rotWithShape="1">
          <a:blip r:embed="rId4">
            <a:alphaModFix/>
          </a:blip>
          <a:srcRect b="16498" l="0" r="0" t="3878"/>
          <a:stretch/>
        </p:blipFill>
        <p:spPr>
          <a:xfrm>
            <a:off x="6381750" y="148450"/>
            <a:ext cx="5500650" cy="584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1"/>
          <p:cNvSpPr txBox="1"/>
          <p:nvPr/>
        </p:nvSpPr>
        <p:spPr>
          <a:xfrm>
            <a:off x="904875" y="40147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5 km+ Secure Fiber Link</a:t>
            </a:r>
            <a:endParaRPr/>
          </a:p>
        </p:txBody>
      </p:sp>
      <p:sp>
        <p:nvSpPr>
          <p:cNvPr id="297" name="Google Shape;297;p21"/>
          <p:cNvSpPr txBox="1"/>
          <p:nvPr/>
        </p:nvSpPr>
        <p:spPr>
          <a:xfrm>
            <a:off x="904875" y="446246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Jammer Resistant Comms</a:t>
            </a:r>
            <a:endParaRPr/>
          </a:p>
        </p:txBody>
      </p:sp>
      <p:sp>
        <p:nvSpPr>
          <p:cNvPr id="298" name="Google Shape;298;p21"/>
          <p:cNvSpPr txBox="1"/>
          <p:nvPr/>
        </p:nvSpPr>
        <p:spPr>
          <a:xfrm>
            <a:off x="904875" y="491013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Live High-Def Video</a:t>
            </a:r>
            <a:endParaRPr/>
          </a:p>
        </p:txBody>
      </p:sp>
      <p:sp>
        <p:nvSpPr>
          <p:cNvPr id="299" name="Google Shape;299;p21"/>
          <p:cNvSpPr txBox="1"/>
          <p:nvPr/>
        </p:nvSpPr>
        <p:spPr>
          <a:xfrm>
            <a:off x="904875" y="535781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Ultra-Low Latency</a:t>
            </a:r>
            <a:endParaRPr/>
          </a:p>
        </p:txBody>
      </p:sp>
      <p:sp>
        <p:nvSpPr>
          <p:cNvPr id="300" name="Google Shape;300;p21"/>
          <p:cNvSpPr txBox="1"/>
          <p:nvPr/>
        </p:nvSpPr>
        <p:spPr>
          <a:xfrm>
            <a:off x="904875" y="580548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 Encrypted Communication</a:t>
            </a:r>
            <a:endParaRPr/>
          </a:p>
        </p:txBody>
      </p:sp>
      <p:pic>
        <p:nvPicPr>
          <p:cNvPr descr="image.png" id="301" name="Google Shape;3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81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4958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943475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911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38825"/>
            <a:ext cx="18097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6" name="Google Shape;306;p21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07" name="Google Shape;307;p21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2.2  - 4 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08" name="Google Shape;308;p21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5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09" name="Google Shape;309;p21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OF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/>
          <p:cNvSpPr txBox="1"/>
          <p:nvPr/>
        </p:nvSpPr>
        <p:spPr>
          <a:xfrm>
            <a:off x="740700" y="466725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Electronic Warfare Package</a:t>
            </a:r>
            <a:endParaRPr/>
          </a:p>
        </p:txBody>
      </p:sp>
      <p:sp>
        <p:nvSpPr>
          <p:cNvPr id="317" name="Google Shape;317;p2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 txBox="1"/>
          <p:nvPr/>
        </p:nvSpPr>
        <p:spPr>
          <a:xfrm>
            <a:off x="571500" y="17430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571500" y="2257425"/>
            <a:ext cx="4833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Enhances </a:t>
            </a: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PRAHAR NETRA </a:t>
            </a: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with integrated RF jamming capability to disrupt hostile drone communication and navigation links, providing a critical additional non-kinetic layer of protection for the defended airspace.</a:t>
            </a:r>
            <a:endParaRPr/>
          </a:p>
        </p:txBody>
      </p:sp>
      <p:sp>
        <p:nvSpPr>
          <p:cNvPr id="320" name="Google Shape;320;p22"/>
          <p:cNvSpPr txBox="1"/>
          <p:nvPr/>
        </p:nvSpPr>
        <p:spPr>
          <a:xfrm>
            <a:off x="571500" y="376237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904875" y="42386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Multi-Band Signal Jamming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904875" y="46863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Configurable Frequencies</a:t>
            </a:r>
            <a:endParaRPr/>
          </a:p>
        </p:txBody>
      </p:sp>
      <p:sp>
        <p:nvSpPr>
          <p:cNvPr id="323" name="Google Shape;323;p22"/>
          <p:cNvSpPr txBox="1"/>
          <p:nvPr/>
        </p:nvSpPr>
        <p:spPr>
          <a:xfrm>
            <a:off x="904875" y="51339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Layer-2 Non-Kinetic Protection</a:t>
            </a:r>
            <a:endParaRPr/>
          </a:p>
        </p:txBody>
      </p:sp>
      <p:sp>
        <p:nvSpPr>
          <p:cNvPr id="324" name="Google Shape;324;p22"/>
          <p:cNvSpPr txBox="1"/>
          <p:nvPr/>
        </p:nvSpPr>
        <p:spPr>
          <a:xfrm>
            <a:off x="904875" y="5581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Modular Integration Design</a:t>
            </a:r>
            <a:endParaRPr/>
          </a:p>
        </p:txBody>
      </p:sp>
      <p:pic>
        <p:nvPicPr>
          <p:cNvPr descr="image.png"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7196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196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673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614987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dd small Jammer " id="329" name="Google Shape;329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0250" y="1202038"/>
            <a:ext cx="6300800" cy="47225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0" name="Google Shape;330;p22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31" name="Google Shape;331;p22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9 - 17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32" name="Google Shape;332;p22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5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33" name="Google Shape;333;p22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 txBox="1"/>
          <p:nvPr/>
        </p:nvSpPr>
        <p:spPr>
          <a:xfrm>
            <a:off x="695103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EW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9" name="Google Shape;3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3"/>
          <p:cNvSpPr txBox="1"/>
          <p:nvPr/>
        </p:nvSpPr>
        <p:spPr>
          <a:xfrm>
            <a:off x="714375" y="438593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Solar Power Package</a:t>
            </a:r>
            <a:endParaRPr/>
          </a:p>
        </p:txBody>
      </p:sp>
      <p:sp>
        <p:nvSpPr>
          <p:cNvPr id="342" name="Google Shape;342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3"/>
          <p:cNvSpPr txBox="1"/>
          <p:nvPr/>
        </p:nvSpPr>
        <p:spPr>
          <a:xfrm>
            <a:off x="571500" y="1743075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44" name="Google Shape;344;p23"/>
          <p:cNvSpPr txBox="1"/>
          <p:nvPr/>
        </p:nvSpPr>
        <p:spPr>
          <a:xfrm>
            <a:off x="571500" y="2257425"/>
            <a:ext cx="49797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solar charging and intelligent battery management, enabling continuous, sustained operation in remote forward areas without access to conventional power infrastructure or generators.</a:t>
            </a:r>
            <a:endParaRPr/>
          </a:p>
        </p:txBody>
      </p:sp>
      <p:sp>
        <p:nvSpPr>
          <p:cNvPr id="345" name="Google Shape;345;p23"/>
          <p:cNvSpPr txBox="1"/>
          <p:nvPr/>
        </p:nvSpPr>
        <p:spPr>
          <a:xfrm>
            <a:off x="571500" y="3762375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346" name="Google Shape;346;p23"/>
          <p:cNvSpPr txBox="1"/>
          <p:nvPr/>
        </p:nvSpPr>
        <p:spPr>
          <a:xfrm>
            <a:off x="904875" y="42386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24×7 Continuous Operation</a:t>
            </a:r>
            <a:endParaRPr/>
          </a:p>
        </p:txBody>
      </p:sp>
      <p:sp>
        <p:nvSpPr>
          <p:cNvPr id="347" name="Google Shape;347;p23"/>
          <p:cNvSpPr txBox="1"/>
          <p:nvPr/>
        </p:nvSpPr>
        <p:spPr>
          <a:xfrm>
            <a:off x="904875" y="468630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High-Efficiency Solar Charging</a:t>
            </a:r>
            <a:endParaRPr/>
          </a:p>
        </p:txBody>
      </p:sp>
      <p:sp>
        <p:nvSpPr>
          <p:cNvPr id="348" name="Google Shape;348;p23"/>
          <p:cNvSpPr txBox="1"/>
          <p:nvPr/>
        </p:nvSpPr>
        <p:spPr>
          <a:xfrm>
            <a:off x="904875" y="513397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Intelligent Battery Management</a:t>
            </a:r>
            <a:endParaRPr/>
          </a:p>
        </p:txBody>
      </p:sp>
      <p:sp>
        <p:nvSpPr>
          <p:cNvPr id="349" name="Google Shape;349;p23"/>
          <p:cNvSpPr txBox="1"/>
          <p:nvPr/>
        </p:nvSpPr>
        <p:spPr>
          <a:xfrm>
            <a:off x="904875" y="55816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Ideal for Remote Deployment</a:t>
            </a:r>
            <a:endParaRPr/>
          </a:p>
        </p:txBody>
      </p:sp>
      <p:pic>
        <p:nvPicPr>
          <p:cNvPr descr="image.png" id="350" name="Google Shape;3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767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96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2" name="Google Shape;35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673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3" name="Google Shape;353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6149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3"/>
          <p:cNvPicPr preferRelativeResize="0"/>
          <p:nvPr/>
        </p:nvPicPr>
        <p:blipFill rotWithShape="1">
          <a:blip r:embed="rId8">
            <a:alphaModFix/>
          </a:blip>
          <a:srcRect b="0" l="971" r="980" t="0"/>
          <a:stretch/>
        </p:blipFill>
        <p:spPr>
          <a:xfrm>
            <a:off x="5657079" y="970062"/>
            <a:ext cx="6429300" cy="4917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5" name="Google Shape;355;p23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56" name="Google Shape;356;p23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3- 4.5 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57" name="Google Shape;357;p23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20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58" name="Google Shape;358;p23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3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SP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714375" y="438593"/>
            <a:ext cx="50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Multi-Weapon Package</a:t>
            </a: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4"/>
          <p:cNvSpPr txBox="1"/>
          <p:nvPr/>
        </p:nvSpPr>
        <p:spPr>
          <a:xfrm>
            <a:off x="571500" y="202672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368" name="Google Shape;368;p24"/>
          <p:cNvSpPr txBox="1"/>
          <p:nvPr/>
        </p:nvSpPr>
        <p:spPr>
          <a:xfrm>
            <a:off x="361225" y="2514400"/>
            <a:ext cx="5238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multiple weapon configurations through a modular mounting architecture with independent trigger control. This flexibility allows for rapid adaptation to mission-specific requirements, ranging from kinetic engagement to less-lethal countermeasures.</a:t>
            </a:r>
            <a:endParaRPr b="0" i="0" sz="15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Compatible with multiple weapon platforms, including INSAS, AK-203, LMG, MMG, and other compatible assault weapon systems.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369" name="Google Shape;369;p24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370" name="Google Shape;370;p24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1 - 3 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71" name="Google Shape;371;p24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372" name="Google Shape;372;p24" title="strike 2 m lm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0" y="766400"/>
            <a:ext cx="6146698" cy="49343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73" name="Google Shape;373;p24"/>
          <p:cNvSpPr txBox="1"/>
          <p:nvPr/>
        </p:nvSpPr>
        <p:spPr>
          <a:xfrm>
            <a:off x="10678425" y="4794125"/>
            <a:ext cx="970500" cy="461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LMG</a:t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4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M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0" name="Google Shape;38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25"/>
          <p:cNvSpPr txBox="1"/>
          <p:nvPr/>
        </p:nvSpPr>
        <p:spPr>
          <a:xfrm>
            <a:off x="164675" y="743425"/>
            <a:ext cx="6257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PRAHAR NETRA </a:t>
            </a:r>
            <a:r>
              <a:rPr b="1" i="0" lang="en-US" sz="40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Gen2</a:t>
            </a:r>
            <a:endParaRPr sz="900"/>
          </a:p>
        </p:txBody>
      </p:sp>
      <p:sp>
        <p:nvSpPr>
          <p:cNvPr id="382" name="Google Shape;382;p25"/>
          <p:cNvSpPr txBox="1"/>
          <p:nvPr/>
        </p:nvSpPr>
        <p:spPr>
          <a:xfrm>
            <a:off x="164675" y="1399775"/>
            <a:ext cx="52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Next-Generation AI Counter-UAS Platform</a:t>
            </a:r>
            <a:endParaRPr/>
          </a:p>
        </p:txBody>
      </p:sp>
      <p:sp>
        <p:nvSpPr>
          <p:cNvPr id="383" name="Google Shape;383;p25"/>
          <p:cNvSpPr txBox="1"/>
          <p:nvPr/>
        </p:nvSpPr>
        <p:spPr>
          <a:xfrm>
            <a:off x="164675" y="2011275"/>
            <a:ext cx="52008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PRAHAR NETRA Gen2 builds upon the proven PRAHAR NETRA Gen 1 platform with next-generation sensing, Edge AI computing, and layered defence capabilities. Integrating Day &amp; Night vision, LiDAR-assisted target identification, electronic warfare, and extended-range operations, it delivers enhanced situational awareness, faster target acquisition, and greater mission effectiveness. Its modular and scalable architecture supports seamless integration of future sensors, mission systems, and Counter-UAS technologies.</a:t>
            </a:r>
            <a:endParaRPr/>
          </a:p>
        </p:txBody>
      </p:sp>
      <p:sp>
        <p:nvSpPr>
          <p:cNvPr id="384" name="Google Shape;384;p25"/>
          <p:cNvSpPr txBox="1"/>
          <p:nvPr/>
        </p:nvSpPr>
        <p:spPr>
          <a:xfrm>
            <a:off x="164675" y="58987"/>
            <a:ext cx="4953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5" name="Google Shape;385;p25"/>
          <p:cNvGrpSpPr/>
          <p:nvPr/>
        </p:nvGrpSpPr>
        <p:grpSpPr>
          <a:xfrm>
            <a:off x="633825" y="5849800"/>
            <a:ext cx="4762650" cy="762000"/>
            <a:chOff x="190500" y="142875"/>
            <a:chExt cx="4762650" cy="762000"/>
          </a:xfrm>
        </p:grpSpPr>
        <p:sp>
          <p:nvSpPr>
            <p:cNvPr id="386" name="Google Shape;386;p25"/>
            <p:cNvSpPr txBox="1"/>
            <p:nvPr/>
          </p:nvSpPr>
          <p:spPr>
            <a:xfrm>
              <a:off x="19050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30,90,000</a:t>
              </a:r>
              <a:endParaRPr b="1" sz="20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387" name="Google Shape;387;p25"/>
            <p:cNvSpPr txBox="1"/>
            <p:nvPr/>
          </p:nvSpPr>
          <p:spPr>
            <a:xfrm>
              <a:off x="2762250" y="142875"/>
              <a:ext cx="219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4</a:t>
              </a:r>
              <a:r>
                <a:rPr b="1" lang="en-US" sz="20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5 Days</a:t>
              </a:r>
              <a:endParaRPr b="1" sz="2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388" name="Google Shape;388;p25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9" name="Google Shape;389;p25" title="STRIKE Gen 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4450" y="274375"/>
            <a:ext cx="6257126" cy="625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6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5" name="Google Shape;395;p26"/>
          <p:cNvGrpSpPr/>
          <p:nvPr/>
        </p:nvGrpSpPr>
        <p:grpSpPr>
          <a:xfrm>
            <a:off x="571500" y="476250"/>
            <a:ext cx="11049000" cy="666900"/>
            <a:chOff x="0" y="0"/>
            <a:chExt cx="11049000" cy="666900"/>
          </a:xfrm>
        </p:grpSpPr>
        <p:sp>
          <p:nvSpPr>
            <p:cNvPr id="396" name="Google Shape;396;p26"/>
            <p:cNvSpPr/>
            <p:nvPr/>
          </p:nvSpPr>
          <p:spPr>
            <a:xfrm>
              <a:off x="0" y="0"/>
              <a:ext cx="57300" cy="6669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6"/>
            <p:cNvSpPr txBox="1"/>
            <p:nvPr/>
          </p:nvSpPr>
          <p:spPr>
            <a:xfrm>
              <a:off x="228600" y="0"/>
              <a:ext cx="108204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PRAHAR NETRA </a:t>
              </a:r>
              <a:r>
                <a:rPr b="1" lang="en-US" sz="2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Gen2: What's New</a:t>
              </a:r>
              <a:endParaRPr b="1" sz="2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Designed for the most demanding multi-domain threat environments.</a:t>
              </a:r>
              <a:endParaRPr b="0"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8" name="Google Shape;398;p26"/>
          <p:cNvGrpSpPr/>
          <p:nvPr/>
        </p:nvGrpSpPr>
        <p:grpSpPr>
          <a:xfrm>
            <a:off x="571500" y="1524000"/>
            <a:ext cx="3429000" cy="4857900"/>
            <a:chOff x="0" y="0"/>
            <a:chExt cx="3429000" cy="4857900"/>
          </a:xfrm>
        </p:grpSpPr>
        <p:sp>
          <p:nvSpPr>
            <p:cNvPr id="399" name="Google Shape;399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Sensing &amp; Optics</a:t>
              </a:r>
              <a:endParaRPr b="1" sz="15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01" name="Google Shape;401;p26"/>
            <p:cNvGrpSpPr/>
            <p:nvPr/>
          </p:nvGrpSpPr>
          <p:grpSpPr>
            <a:xfrm>
              <a:off x="152400" y="714375"/>
              <a:ext cx="3124200" cy="809700"/>
              <a:chOff x="0" y="0"/>
              <a:chExt cx="3124200" cy="809700"/>
            </a:xfrm>
          </p:grpSpPr>
          <p:sp>
            <p:nvSpPr>
              <p:cNvPr id="402" name="Google Shape;402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videocam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05" name="Google Shape;405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Camera System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Day &amp; Night PTZ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06" name="Google Shape;406;p26"/>
            <p:cNvGrpSpPr/>
            <p:nvPr/>
          </p:nvGrpSpPr>
          <p:grpSpPr>
            <a:xfrm>
              <a:off x="152400" y="1619250"/>
              <a:ext cx="3124200" cy="809700"/>
              <a:chOff x="0" y="0"/>
              <a:chExt cx="3124200" cy="809700"/>
            </a:xfrm>
          </p:grpSpPr>
          <p:sp>
            <p:nvSpPr>
              <p:cNvPr id="407" name="Google Shape;407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zoom_in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0" name="Google Shape;410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Optical Zoom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30×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1" name="Google Shape;411;p26"/>
            <p:cNvGrpSpPr/>
            <p:nvPr/>
          </p:nvGrpSpPr>
          <p:grpSpPr>
            <a:xfrm>
              <a:off x="152400" y="2524125"/>
              <a:ext cx="3124200" cy="809700"/>
              <a:chOff x="0" y="0"/>
              <a:chExt cx="3124200" cy="809700"/>
            </a:xfrm>
          </p:grpSpPr>
          <p:sp>
            <p:nvSpPr>
              <p:cNvPr id="412" name="Google Shape;412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4" name="Google Shape;414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radar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15" name="Google Shape;415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Detection Range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+ 1.5 km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16" name="Google Shape;416;p26"/>
            <p:cNvGrpSpPr/>
            <p:nvPr/>
          </p:nvGrpSpPr>
          <p:grpSpPr>
            <a:xfrm>
              <a:off x="152400" y="3429000"/>
              <a:ext cx="3124200" cy="809700"/>
              <a:chOff x="0" y="0"/>
              <a:chExt cx="3124200" cy="809700"/>
            </a:xfrm>
          </p:grpSpPr>
          <p:sp>
            <p:nvSpPr>
              <p:cNvPr id="417" name="Google Shape;417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sensors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0" name="Google Shape;420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LiDAR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Integrated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21" name="Google Shape;421;p26"/>
          <p:cNvGrpSpPr/>
          <p:nvPr/>
        </p:nvGrpSpPr>
        <p:grpSpPr>
          <a:xfrm>
            <a:off x="4381500" y="1524000"/>
            <a:ext cx="3429000" cy="4857900"/>
            <a:chOff x="0" y="0"/>
            <a:chExt cx="3429000" cy="4857900"/>
          </a:xfrm>
        </p:grpSpPr>
        <p:sp>
          <p:nvSpPr>
            <p:cNvPr id="422" name="Google Shape;422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Intelligence &amp; Control</a:t>
              </a:r>
              <a:endParaRPr b="1" sz="15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24" name="Google Shape;424;p26"/>
            <p:cNvGrpSpPr/>
            <p:nvPr/>
          </p:nvGrpSpPr>
          <p:grpSpPr>
            <a:xfrm>
              <a:off x="152400" y="809625"/>
              <a:ext cx="3124200" cy="809700"/>
              <a:chOff x="0" y="0"/>
              <a:chExt cx="3124200" cy="809700"/>
            </a:xfrm>
          </p:grpSpPr>
          <p:sp>
            <p:nvSpPr>
              <p:cNvPr id="425" name="Google Shape;425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memory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28" name="Google Shape;428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AI Architecture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NVIDIA Edge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29" name="Google Shape;429;p26"/>
            <p:cNvGrpSpPr/>
            <p:nvPr/>
          </p:nvGrpSpPr>
          <p:grpSpPr>
            <a:xfrm>
              <a:off x="152400" y="2000250"/>
              <a:ext cx="3124200" cy="809700"/>
              <a:chOff x="0" y="0"/>
              <a:chExt cx="3124200" cy="809700"/>
            </a:xfrm>
          </p:grpSpPr>
          <p:sp>
            <p:nvSpPr>
              <p:cNvPr id="430" name="Google Shape;430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track_changes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33" name="Google Shape;433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Trigger Units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5 Independent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34" name="Google Shape;434;p26"/>
            <p:cNvGrpSpPr/>
            <p:nvPr/>
          </p:nvGrpSpPr>
          <p:grpSpPr>
            <a:xfrm>
              <a:off x="152400" y="3190875"/>
              <a:ext cx="3124200" cy="809700"/>
              <a:chOff x="0" y="0"/>
              <a:chExt cx="3124200" cy="809700"/>
            </a:xfrm>
          </p:grpSpPr>
          <p:sp>
            <p:nvSpPr>
              <p:cNvPr id="435" name="Google Shape;435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sync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38" name="Google Shape;438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Rotation / Elevation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360° / 80°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39" name="Google Shape;439;p26"/>
          <p:cNvGrpSpPr/>
          <p:nvPr/>
        </p:nvGrpSpPr>
        <p:grpSpPr>
          <a:xfrm>
            <a:off x="8191500" y="1524000"/>
            <a:ext cx="3429000" cy="4857900"/>
            <a:chOff x="0" y="0"/>
            <a:chExt cx="3429000" cy="4857900"/>
          </a:xfrm>
        </p:grpSpPr>
        <p:sp>
          <p:nvSpPr>
            <p:cNvPr id="440" name="Google Shape;440;p26"/>
            <p:cNvSpPr/>
            <p:nvPr/>
          </p:nvSpPr>
          <p:spPr>
            <a:xfrm>
              <a:off x="0" y="0"/>
              <a:ext cx="3429000" cy="4857900"/>
            </a:xfrm>
            <a:prstGeom prst="roundRect">
              <a:avLst>
                <a:gd fmla="val 444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6"/>
            <p:cNvSpPr txBox="1"/>
            <p:nvPr/>
          </p:nvSpPr>
          <p:spPr>
            <a:xfrm>
              <a:off x="190500" y="1905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Comms &amp; Protection</a:t>
              </a:r>
              <a:endParaRPr b="1" sz="15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442" name="Google Shape;442;p26"/>
            <p:cNvGrpSpPr/>
            <p:nvPr/>
          </p:nvGrpSpPr>
          <p:grpSpPr>
            <a:xfrm>
              <a:off x="152400" y="714375"/>
              <a:ext cx="3124200" cy="809700"/>
              <a:chOff x="0" y="0"/>
              <a:chExt cx="3124200" cy="809700"/>
            </a:xfrm>
          </p:grpSpPr>
          <p:sp>
            <p:nvSpPr>
              <p:cNvPr id="443" name="Google Shape;443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settings_input_antenna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46" name="Google Shape;446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Comms (LoRa/Fiber)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km / 5 km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47" name="Google Shape;447;p26"/>
            <p:cNvGrpSpPr/>
            <p:nvPr/>
          </p:nvGrpSpPr>
          <p:grpSpPr>
            <a:xfrm>
              <a:off x="152400" y="1619250"/>
              <a:ext cx="3124200" cy="809700"/>
              <a:chOff x="0" y="0"/>
              <a:chExt cx="3124200" cy="809700"/>
            </a:xfrm>
          </p:grpSpPr>
          <p:sp>
            <p:nvSpPr>
              <p:cNvPr id="448" name="Google Shape;448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podcasts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1" name="Google Shape;451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Video Transmission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km Wireless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2" name="Google Shape;452;p26"/>
            <p:cNvGrpSpPr/>
            <p:nvPr/>
          </p:nvGrpSpPr>
          <p:grpSpPr>
            <a:xfrm>
              <a:off x="152400" y="2524125"/>
              <a:ext cx="3124200" cy="809700"/>
              <a:chOff x="0" y="0"/>
              <a:chExt cx="3124200" cy="809700"/>
            </a:xfrm>
          </p:grpSpPr>
          <p:sp>
            <p:nvSpPr>
              <p:cNvPr id="453" name="Google Shape;453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5" name="Google Shape;455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bolt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56" name="Google Shape;456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Power / Deployment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24VDC / &lt;10 Min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grpSp>
          <p:nvGrpSpPr>
            <p:cNvPr id="457" name="Google Shape;457;p26"/>
            <p:cNvGrpSpPr/>
            <p:nvPr/>
          </p:nvGrpSpPr>
          <p:grpSpPr>
            <a:xfrm>
              <a:off x="152400" y="3429000"/>
              <a:ext cx="3124200" cy="809700"/>
              <a:chOff x="0" y="0"/>
              <a:chExt cx="3124200" cy="809700"/>
            </a:xfrm>
          </p:grpSpPr>
          <p:sp>
            <p:nvSpPr>
              <p:cNvPr id="458" name="Google Shape;458;p26"/>
              <p:cNvSpPr/>
              <p:nvPr/>
            </p:nvSpPr>
            <p:spPr>
              <a:xfrm>
                <a:off x="0" y="0"/>
                <a:ext cx="3124200" cy="809700"/>
              </a:xfrm>
              <a:prstGeom prst="roundRect">
                <a:avLst>
                  <a:gd fmla="val 14117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F1F5F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6"/>
              <p:cNvSpPr/>
              <p:nvPr/>
            </p:nvSpPr>
            <p:spPr>
              <a:xfrm>
                <a:off x="152400" y="195263"/>
                <a:ext cx="419100" cy="4191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26"/>
              <p:cNvSpPr txBox="1"/>
              <p:nvPr/>
            </p:nvSpPr>
            <p:spPr>
              <a:xfrm>
                <a:off x="152400" y="224473"/>
                <a:ext cx="4191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shield</a:t>
                </a:r>
                <a:endParaRPr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461" name="Google Shape;461;p26"/>
              <p:cNvSpPr txBox="1"/>
              <p:nvPr/>
            </p:nvSpPr>
            <p:spPr>
              <a:xfrm>
                <a:off x="723900" y="114300"/>
                <a:ext cx="2247900" cy="58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-US" sz="900">
                    <a:solidFill>
                      <a:srgbClr val="64748B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Protection Layer</a:t>
                </a:r>
                <a:endParaRPr b="0" sz="900">
                  <a:solidFill>
                    <a:srgbClr val="64748B"/>
                  </a:solidFill>
                  <a:latin typeface="Poppins SemiBold"/>
                  <a:ea typeface="Poppins SemiBold"/>
                  <a:cs typeface="Poppins SemiBold"/>
                  <a:sym typeface="Poppins SemiBold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250">
                    <a:solidFill>
                      <a:srgbClr val="0F172A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2 (Kinetic + Jamming)</a:t>
                </a:r>
                <a:endParaRPr b="1" sz="125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 txBox="1"/>
          <p:nvPr/>
        </p:nvSpPr>
        <p:spPr>
          <a:xfrm>
            <a:off x="714375" y="571500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Gen2 Mission Packages</a:t>
            </a:r>
            <a:endParaRPr/>
          </a:p>
        </p:txBody>
      </p:sp>
      <p:sp>
        <p:nvSpPr>
          <p:cNvPr id="468" name="Google Shape;468;p27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9" name="Google Shape;469;p27"/>
          <p:cNvGrpSpPr/>
          <p:nvPr/>
        </p:nvGrpSpPr>
        <p:grpSpPr>
          <a:xfrm>
            <a:off x="571500" y="1619250"/>
            <a:ext cx="2057400" cy="4381500"/>
            <a:chOff x="0" y="0"/>
            <a:chExt cx="2057400" cy="4381500"/>
          </a:xfrm>
        </p:grpSpPr>
        <p:sp>
          <p:nvSpPr>
            <p:cNvPr id="470" name="Google Shape;470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1" name="Google Shape;471;p27"/>
            <p:cNvPicPr preferRelativeResize="0"/>
            <p:nvPr/>
          </p:nvPicPr>
          <p:blipFill rotWithShape="1">
            <a:blip r:embed="rId3">
              <a:alphaModFix/>
            </a:blip>
            <a:srcRect b="3704" l="0" r="0" t="3695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fmla="val 5925" name="adj"/>
              </a:avLst>
            </a:prstGeom>
            <a:noFill/>
            <a:ln>
              <a:noFill/>
            </a:ln>
          </p:spPr>
        </p:pic>
        <p:sp>
          <p:nvSpPr>
            <p:cNvPr id="472" name="Google Shape;472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Solar Power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Extends tactical mission endurance using high-efficiency, rapidly deployable solar harvesting units.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73" name="Google Shape;473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74" name="Google Shape;474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5" name="Google Shape;475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SP</a:t>
                </a:r>
                <a:endParaRPr b="1" sz="135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76" name="Google Shape;476;p27"/>
          <p:cNvGrpSpPr/>
          <p:nvPr/>
        </p:nvGrpSpPr>
        <p:grpSpPr>
          <a:xfrm>
            <a:off x="2819400" y="1619250"/>
            <a:ext cx="2057400" cy="4381500"/>
            <a:chOff x="0" y="0"/>
            <a:chExt cx="2057400" cy="4381500"/>
          </a:xfrm>
        </p:grpSpPr>
        <p:sp>
          <p:nvSpPr>
            <p:cNvPr id="477" name="Google Shape;477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78" name="Google Shape;478;p27"/>
            <p:cNvPicPr preferRelativeResize="0"/>
            <p:nvPr/>
          </p:nvPicPr>
          <p:blipFill rotWithShape="1">
            <a:blip r:embed="rId4">
              <a:alphaModFix/>
            </a:blip>
            <a:srcRect b="14413" l="0" r="0" t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fmla="val 5925" name="adj"/>
              </a:avLst>
            </a:prstGeom>
            <a:noFill/>
            <a:ln>
              <a:noFill/>
            </a:ln>
          </p:spPr>
        </p:pic>
        <p:sp>
          <p:nvSpPr>
            <p:cNvPr id="479" name="Google Shape;479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Multi-Weapon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Supports multiple independent weapon configurations for enhanced engagement capability.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80" name="Google Shape;480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81" name="Google Shape;481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</a:t>
                </a:r>
                <a:endParaRPr b="1" sz="135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83" name="Google Shape;483;p27"/>
          <p:cNvGrpSpPr/>
          <p:nvPr/>
        </p:nvGrpSpPr>
        <p:grpSpPr>
          <a:xfrm>
            <a:off x="5067300" y="1619250"/>
            <a:ext cx="2057400" cy="4381500"/>
            <a:chOff x="0" y="0"/>
            <a:chExt cx="2057400" cy="4381500"/>
          </a:xfrm>
        </p:grpSpPr>
        <p:sp>
          <p:nvSpPr>
            <p:cNvPr id="484" name="Google Shape;484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5" name="Google Shape;485;p27"/>
            <p:cNvPicPr preferRelativeResize="0"/>
            <p:nvPr/>
          </p:nvPicPr>
          <p:blipFill rotWithShape="1">
            <a:blip r:embed="rId5">
              <a:alphaModFix/>
            </a:blip>
            <a:srcRect b="14413" l="0" r="0" t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fmla="val 5925" name="adj"/>
              </a:avLst>
            </a:prstGeom>
            <a:noFill/>
            <a:ln>
              <a:noFill/>
            </a:ln>
          </p:spPr>
        </p:pic>
        <p:sp>
          <p:nvSpPr>
            <p:cNvPr id="486" name="Google Shape;486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Radar Surveillance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Long-range radar for early detection and automatic target cueing.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87" name="Google Shape;487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88" name="Google Shape;488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R</a:t>
                </a: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S</a:t>
                </a:r>
                <a:endParaRPr b="1" sz="135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90" name="Google Shape;490;p27"/>
          <p:cNvGrpSpPr/>
          <p:nvPr/>
        </p:nvGrpSpPr>
        <p:grpSpPr>
          <a:xfrm>
            <a:off x="7315200" y="1619250"/>
            <a:ext cx="2057400" cy="4381500"/>
            <a:chOff x="0" y="0"/>
            <a:chExt cx="2057400" cy="4381500"/>
          </a:xfrm>
        </p:grpSpPr>
        <p:sp>
          <p:nvSpPr>
            <p:cNvPr id="491" name="Google Shape;491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2" name="Google Shape;492;p27"/>
            <p:cNvPicPr preferRelativeResize="0"/>
            <p:nvPr/>
          </p:nvPicPr>
          <p:blipFill rotWithShape="1">
            <a:blip r:embed="rId6">
              <a:alphaModFix/>
            </a:blip>
            <a:srcRect b="14413" l="0" r="0" t="1441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fmla="val 5925" name="adj"/>
              </a:avLst>
            </a:prstGeom>
            <a:noFill/>
            <a:ln>
              <a:noFill/>
            </a:ln>
          </p:spPr>
        </p:pic>
        <p:sp>
          <p:nvSpPr>
            <p:cNvPr id="493" name="Google Shape;493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GPS Spoofing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Disrupts hostile UAV navigation through controlled GNSS signal manipulation.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494" name="Google Shape;494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495" name="Google Shape;495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GS</a:t>
                </a:r>
                <a:endParaRPr b="1" sz="135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grpSp>
        <p:nvGrpSpPr>
          <p:cNvPr id="497" name="Google Shape;497;p27"/>
          <p:cNvGrpSpPr/>
          <p:nvPr/>
        </p:nvGrpSpPr>
        <p:grpSpPr>
          <a:xfrm>
            <a:off x="9563100" y="1619250"/>
            <a:ext cx="2057400" cy="4381500"/>
            <a:chOff x="0" y="0"/>
            <a:chExt cx="2057400" cy="4381500"/>
          </a:xfrm>
        </p:grpSpPr>
        <p:sp>
          <p:nvSpPr>
            <p:cNvPr id="498" name="Google Shape;498;p27"/>
            <p:cNvSpPr/>
            <p:nvPr/>
          </p:nvSpPr>
          <p:spPr>
            <a:xfrm>
              <a:off x="0" y="0"/>
              <a:ext cx="2057400" cy="4381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99" name="Google Shape;499;p27"/>
            <p:cNvPicPr preferRelativeResize="0"/>
            <p:nvPr/>
          </p:nvPicPr>
          <p:blipFill rotWithShape="1">
            <a:blip r:embed="rId7">
              <a:alphaModFix/>
            </a:blip>
            <a:srcRect b="14403" l="0" r="0" t="14403"/>
            <a:stretch/>
          </p:blipFill>
          <p:spPr>
            <a:xfrm>
              <a:off x="95250" y="95250"/>
              <a:ext cx="1866900" cy="1285800"/>
            </a:xfrm>
            <a:prstGeom prst="roundRect">
              <a:avLst>
                <a:gd fmla="val 5925" name="adj"/>
              </a:avLst>
            </a:prstGeom>
            <a:noFill/>
            <a:ln>
              <a:noFill/>
            </a:ln>
          </p:spPr>
        </p:pic>
        <p:sp>
          <p:nvSpPr>
            <p:cNvPr id="500" name="Google Shape;500;p27"/>
            <p:cNvSpPr txBox="1"/>
            <p:nvPr/>
          </p:nvSpPr>
          <p:spPr>
            <a:xfrm>
              <a:off x="114300" y="1524000"/>
              <a:ext cx="1828800" cy="2095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EMP</a:t>
              </a:r>
              <a:endParaRPr b="1" sz="16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Integrates electromagnetic payloads for advanced electronic threat neutralization.</a:t>
              </a:r>
              <a:endParaRPr b="0" sz="13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501" name="Google Shape;501;p27"/>
            <p:cNvGrpSpPr/>
            <p:nvPr/>
          </p:nvGrpSpPr>
          <p:grpSpPr>
            <a:xfrm>
              <a:off x="114300" y="3762375"/>
              <a:ext cx="1828800" cy="504900"/>
              <a:chOff x="0" y="0"/>
              <a:chExt cx="1828800" cy="504900"/>
            </a:xfrm>
          </p:grpSpPr>
          <p:sp>
            <p:nvSpPr>
              <p:cNvPr id="502" name="Google Shape;502;p27"/>
              <p:cNvSpPr/>
              <p:nvPr/>
            </p:nvSpPr>
            <p:spPr>
              <a:xfrm>
                <a:off x="0" y="0"/>
                <a:ext cx="1828800" cy="504900"/>
              </a:xfrm>
              <a:prstGeom prst="roundRect">
                <a:avLst>
                  <a:gd fmla="val 15094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3" name="Google Shape;503;p27"/>
              <p:cNvSpPr txBox="1"/>
              <p:nvPr/>
            </p:nvSpPr>
            <p:spPr>
              <a:xfrm>
                <a:off x="0" y="0"/>
                <a:ext cx="1828800" cy="50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000">
                    <a:solidFill>
                      <a:srgbClr val="64748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Mission Codes</a:t>
                </a:r>
                <a:endParaRPr b="1" sz="10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ctr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1" lang="en-US" sz="1350">
                    <a:solidFill>
                      <a:srgbClr val="2563EB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EMP</a:t>
                </a:r>
                <a:endParaRPr b="1" sz="135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</p:grpSp>
      <p:sp>
        <p:nvSpPr>
          <p:cNvPr id="504" name="Google Shape;504;p27"/>
          <p:cNvSpPr txBox="1"/>
          <p:nvPr/>
        </p:nvSpPr>
        <p:spPr>
          <a:xfrm>
            <a:off x="571500" y="6431988"/>
            <a:ext cx="11049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rgbClr val="4755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Modular capability upgrades that can be integrated with PRAHAR NETRA Gen2 to enhance mission effectiveness and operational flexibility.</a:t>
            </a:r>
            <a:endParaRPr b="0" sz="1250">
              <a:solidFill>
                <a:srgbClr val="4755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9" name="Google Shape;50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88595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28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714375" y="377406"/>
            <a:ext cx="1145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Solar Power Package 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(Gen2)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2" name="Google Shape;512;p28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28"/>
          <p:cNvSpPr txBox="1"/>
          <p:nvPr/>
        </p:nvSpPr>
        <p:spPr>
          <a:xfrm>
            <a:off x="571500" y="174307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14" name="Google Shape;514;p28"/>
          <p:cNvSpPr txBox="1"/>
          <p:nvPr/>
        </p:nvSpPr>
        <p:spPr>
          <a:xfrm>
            <a:off x="571500" y="2257425"/>
            <a:ext cx="4905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Integrates solar charging and intelligent battery management, enabling continuous, sustained operation in remote forward areas without access to conventional power infrastructure or generators.</a:t>
            </a:r>
            <a:endParaRPr/>
          </a:p>
        </p:txBody>
      </p:sp>
      <p:sp>
        <p:nvSpPr>
          <p:cNvPr id="515" name="Google Shape;515;p28"/>
          <p:cNvSpPr txBox="1"/>
          <p:nvPr/>
        </p:nvSpPr>
        <p:spPr>
          <a:xfrm>
            <a:off x="571500" y="3762375"/>
            <a:ext cx="55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516" name="Google Shape;516;p28"/>
          <p:cNvSpPr txBox="1"/>
          <p:nvPr/>
        </p:nvSpPr>
        <p:spPr>
          <a:xfrm>
            <a:off x="904875" y="423862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24×7 Continuous Operation</a:t>
            </a:r>
            <a:endParaRPr/>
          </a:p>
        </p:txBody>
      </p:sp>
      <p:sp>
        <p:nvSpPr>
          <p:cNvPr id="517" name="Google Shape;517;p28"/>
          <p:cNvSpPr txBox="1"/>
          <p:nvPr/>
        </p:nvSpPr>
        <p:spPr>
          <a:xfrm>
            <a:off x="904875" y="468630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High-Efficiency Solar Charging</a:t>
            </a:r>
            <a:endParaRPr/>
          </a:p>
        </p:txBody>
      </p:sp>
      <p:sp>
        <p:nvSpPr>
          <p:cNvPr id="518" name="Google Shape;518;p28"/>
          <p:cNvSpPr txBox="1"/>
          <p:nvPr/>
        </p:nvSpPr>
        <p:spPr>
          <a:xfrm>
            <a:off x="904875" y="513397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Intelligent Battery Management</a:t>
            </a:r>
            <a:endParaRPr/>
          </a:p>
        </p:txBody>
      </p:sp>
      <p:sp>
        <p:nvSpPr>
          <p:cNvPr id="519" name="Google Shape;519;p28"/>
          <p:cNvSpPr txBox="1"/>
          <p:nvPr/>
        </p:nvSpPr>
        <p:spPr>
          <a:xfrm>
            <a:off x="904875" y="5581650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Ideal for Remote Deployment</a:t>
            </a:r>
            <a:endParaRPr/>
          </a:p>
        </p:txBody>
      </p:sp>
      <p:pic>
        <p:nvPicPr>
          <p:cNvPr descr="image.png" id="520" name="Google Shape;52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76725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1" name="Google Shape;52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1963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2" name="Google Shape;522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673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6149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28"/>
          <p:cNvPicPr preferRelativeResize="0"/>
          <p:nvPr/>
        </p:nvPicPr>
        <p:blipFill rotWithShape="1">
          <a:blip r:embed="rId8">
            <a:alphaModFix/>
          </a:blip>
          <a:srcRect b="0" l="971" r="980" t="0"/>
          <a:stretch/>
        </p:blipFill>
        <p:spPr>
          <a:xfrm>
            <a:off x="5786475" y="1174582"/>
            <a:ext cx="6324575" cy="48377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5" name="Google Shape;525;p28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26" name="Google Shape;526;p28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3.5 - 7 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27" name="Google Shape;527;p28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20 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28" name="Google Shape;528;p28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8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2 SP 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9"/>
          <p:cNvSpPr txBox="1"/>
          <p:nvPr/>
        </p:nvSpPr>
        <p:spPr>
          <a:xfrm>
            <a:off x="714375" y="377406"/>
            <a:ext cx="509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Multi-Weapon Package</a:t>
            </a:r>
            <a:endParaRPr/>
          </a:p>
        </p:txBody>
      </p:sp>
      <p:sp>
        <p:nvSpPr>
          <p:cNvPr id="536" name="Google Shape;536;p2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9"/>
          <p:cNvSpPr txBox="1"/>
          <p:nvPr/>
        </p:nvSpPr>
        <p:spPr>
          <a:xfrm>
            <a:off x="571500" y="2026725"/>
            <a:ext cx="550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38" name="Google Shape;538;p29"/>
          <p:cNvSpPr txBox="1"/>
          <p:nvPr/>
        </p:nvSpPr>
        <p:spPr>
          <a:xfrm>
            <a:off x="571500" y="2541075"/>
            <a:ext cx="5238900" cy="31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Supports multiple weapon configurations through a modular mounting architecture with independent trigger control. This flexibility allows for rapid adaptation to mission-specific requirements, ranging from kinetic engagement to less-lethal countermeasures.</a:t>
            </a:r>
            <a:endParaRPr b="0" i="0" sz="1500" u="none" cap="none" strike="noStrike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Compatible with multiple weapon platforms, including INSAS, AK-203, LMG, MMG, and other compatible assault weapon systems. </a:t>
            </a:r>
            <a:endParaRPr sz="15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539" name="Google Shape;539;p29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40" name="Google Shape;540;p29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1 - 3 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41" name="Google Shape;541;p29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35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42" name="Google Shape;542;p29" title="strike 2 m lmg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400" y="766400"/>
            <a:ext cx="6146698" cy="49343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543" name="Google Shape;543;p29"/>
          <p:cNvSpPr txBox="1"/>
          <p:nvPr/>
        </p:nvSpPr>
        <p:spPr>
          <a:xfrm>
            <a:off x="10678425" y="4794125"/>
            <a:ext cx="970500" cy="461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LMG</a:t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9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9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2 M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0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0"/>
          <p:cNvSpPr txBox="1"/>
          <p:nvPr/>
        </p:nvSpPr>
        <p:spPr>
          <a:xfrm>
            <a:off x="714375" y="377406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Radar Package</a:t>
            </a:r>
            <a:endParaRPr/>
          </a:p>
        </p:txBody>
      </p:sp>
      <p:sp>
        <p:nvSpPr>
          <p:cNvPr id="552" name="Google Shape;552;p3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0"/>
          <p:cNvSpPr txBox="1"/>
          <p:nvPr/>
        </p:nvSpPr>
        <p:spPr>
          <a:xfrm>
            <a:off x="571500" y="1580257"/>
            <a:ext cx="55006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/>
          </a:p>
        </p:txBody>
      </p:sp>
      <p:sp>
        <p:nvSpPr>
          <p:cNvPr id="554" name="Google Shape;554;p30"/>
          <p:cNvSpPr txBox="1"/>
          <p:nvPr/>
        </p:nvSpPr>
        <p:spPr>
          <a:xfrm>
            <a:off x="571500" y="2094600"/>
            <a:ext cx="5109000" cy="12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Radar Package integrates a long-range radar system that continuously scans the surrounding airspace, providing early target detection and automatic cueing of the electro-optical tracking system. This enhances performance in complex environments.</a:t>
            </a:r>
            <a:endParaRPr/>
          </a:p>
        </p:txBody>
      </p:sp>
      <p:sp>
        <p:nvSpPr>
          <p:cNvPr id="555" name="Google Shape;555;p30"/>
          <p:cNvSpPr txBox="1"/>
          <p:nvPr/>
        </p:nvSpPr>
        <p:spPr>
          <a:xfrm>
            <a:off x="571500" y="3477517"/>
            <a:ext cx="55006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Features</a:t>
            </a:r>
            <a:endParaRPr/>
          </a:p>
        </p:txBody>
      </p:sp>
      <p:sp>
        <p:nvSpPr>
          <p:cNvPr id="556" name="Google Shape;556;p30"/>
          <p:cNvSpPr txBox="1"/>
          <p:nvPr/>
        </p:nvSpPr>
        <p:spPr>
          <a:xfrm>
            <a:off x="904875" y="395376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Long-Range Radar Detection</a:t>
            </a:r>
            <a:endParaRPr/>
          </a:p>
        </p:txBody>
      </p:sp>
      <p:sp>
        <p:nvSpPr>
          <p:cNvPr id="557" name="Google Shape;557;p30"/>
          <p:cNvSpPr txBox="1"/>
          <p:nvPr/>
        </p:nvSpPr>
        <p:spPr>
          <a:xfrm>
            <a:off x="904875" y="440144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Continuous Airspace Monitoring</a:t>
            </a:r>
            <a:endParaRPr/>
          </a:p>
        </p:txBody>
      </p:sp>
      <p:sp>
        <p:nvSpPr>
          <p:cNvPr id="558" name="Google Shape;558;p30"/>
          <p:cNvSpPr txBox="1"/>
          <p:nvPr/>
        </p:nvSpPr>
        <p:spPr>
          <a:xfrm>
            <a:off x="904875" y="484911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Automatic AI Cueing</a:t>
            </a:r>
            <a:endParaRPr/>
          </a:p>
        </p:txBody>
      </p:sp>
      <p:sp>
        <p:nvSpPr>
          <p:cNvPr id="559" name="Google Shape;559;p30"/>
          <p:cNvSpPr txBox="1"/>
          <p:nvPr/>
        </p:nvSpPr>
        <p:spPr>
          <a:xfrm>
            <a:off x="904875" y="5296792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All-Weather Detection</a:t>
            </a:r>
            <a:endParaRPr/>
          </a:p>
        </p:txBody>
      </p:sp>
      <p:sp>
        <p:nvSpPr>
          <p:cNvPr id="560" name="Google Shape;560;p30"/>
          <p:cNvSpPr txBox="1"/>
          <p:nvPr/>
        </p:nvSpPr>
        <p:spPr>
          <a:xfrm>
            <a:off x="904875" y="5744467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Enhanced Situational Awareness</a:t>
            </a:r>
            <a:endParaRPr/>
          </a:p>
        </p:txBody>
      </p:sp>
      <p:pic>
        <p:nvPicPr>
          <p:cNvPr descr="image.png" id="561" name="Google Shape;56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43478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2" name="Google Shape;56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88245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3" name="Google Shape;56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33013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4" name="Google Shape;56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777805"/>
            <a:ext cx="238125" cy="219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5" name="Google Shape;565;p30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566" name="Google Shape;566;p30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27 - 70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567" name="Google Shape;567;p30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90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pic>
        <p:nvPicPr>
          <p:cNvPr id="568" name="Google Shape;568;p30" title="STRIKE 2 with radar.png"/>
          <p:cNvPicPr preferRelativeResize="0"/>
          <p:nvPr/>
        </p:nvPicPr>
        <p:blipFill rotWithShape="1">
          <a:blip r:embed="rId7">
            <a:alphaModFix/>
          </a:blip>
          <a:srcRect b="0" l="0" r="13322" t="0"/>
          <a:stretch/>
        </p:blipFill>
        <p:spPr>
          <a:xfrm>
            <a:off x="5924581" y="571500"/>
            <a:ext cx="6186470" cy="5353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989500"/>
            <a:ext cx="219050" cy="1923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0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0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2 RS 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1"/>
          <p:cNvSpPr txBox="1"/>
          <p:nvPr/>
        </p:nvSpPr>
        <p:spPr>
          <a:xfrm>
            <a:off x="714375" y="377406"/>
            <a:ext cx="114513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GPS Spoofing Package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8" name="Google Shape;578;p31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1"/>
          <p:cNvSpPr txBox="1"/>
          <p:nvPr/>
        </p:nvSpPr>
        <p:spPr>
          <a:xfrm>
            <a:off x="571500" y="1476375"/>
            <a:ext cx="5500800" cy="300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b="1" sz="19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571500" y="1952625"/>
            <a:ext cx="52389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GPS Spoofing Package integrates advanced GNSS countermeasure capabilities to enhance the platform's layered Counter-UAS defence architecture against navigation-dependent aerial threats.</a:t>
            </a:r>
            <a:endParaRPr b="0" sz="140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81" name="Google Shape;581;p31"/>
          <p:cNvPicPr preferRelativeResize="0"/>
          <p:nvPr/>
        </p:nvPicPr>
        <p:blipFill rotWithShape="1">
          <a:blip r:embed="rId3">
            <a:alphaModFix/>
          </a:blip>
          <a:srcRect b="0" l="3460" r="13366" t="0"/>
          <a:stretch/>
        </p:blipFill>
        <p:spPr>
          <a:xfrm>
            <a:off x="6191250" y="395774"/>
            <a:ext cx="5732400" cy="5169000"/>
          </a:xfrm>
          <a:prstGeom prst="roundRect">
            <a:avLst>
              <a:gd fmla="val 3478" name="adj"/>
            </a:avLst>
          </a:prstGeom>
          <a:noFill/>
          <a:ln>
            <a:noFill/>
          </a:ln>
        </p:spPr>
      </p:pic>
      <p:grpSp>
        <p:nvGrpSpPr>
          <p:cNvPr id="582" name="Google Shape;582;p31"/>
          <p:cNvGrpSpPr/>
          <p:nvPr/>
        </p:nvGrpSpPr>
        <p:grpSpPr>
          <a:xfrm>
            <a:off x="571500" y="3286125"/>
            <a:ext cx="5238900" cy="333300"/>
            <a:chOff x="0" y="0"/>
            <a:chExt cx="5238900" cy="333300"/>
          </a:xfrm>
        </p:grpSpPr>
        <p:sp>
          <p:nvSpPr>
            <p:cNvPr id="583" name="Google Shape;583;p31"/>
            <p:cNvSpPr/>
            <p:nvPr/>
          </p:nvSpPr>
          <p:spPr>
            <a:xfrm>
              <a:off x="0" y="0"/>
              <a:ext cx="52389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1"/>
            <p:cNvSpPr txBox="1"/>
            <p:nvPr/>
          </p:nvSpPr>
          <p:spPr>
            <a:xfrm>
              <a:off x="0" y="0"/>
              <a:ext cx="5238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Key Features</a:t>
              </a:r>
              <a:endParaRPr b="1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585" name="Google Shape;585;p31"/>
          <p:cNvGrpSpPr/>
          <p:nvPr/>
        </p:nvGrpSpPr>
        <p:grpSpPr>
          <a:xfrm>
            <a:off x="571500" y="3762375"/>
            <a:ext cx="285900" cy="315110"/>
            <a:chOff x="0" y="0"/>
            <a:chExt cx="285900" cy="315110"/>
          </a:xfrm>
        </p:grpSpPr>
        <p:sp>
          <p:nvSpPr>
            <p:cNvPr id="586" name="Google Shape;586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gps_fixed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88" name="Google Shape;588;p31"/>
          <p:cNvGrpSpPr/>
          <p:nvPr/>
        </p:nvGrpSpPr>
        <p:grpSpPr>
          <a:xfrm>
            <a:off x="952500" y="3762375"/>
            <a:ext cx="4572000" cy="333300"/>
            <a:chOff x="0" y="0"/>
            <a:chExt cx="4572000" cy="333300"/>
          </a:xfrm>
        </p:grpSpPr>
        <p:sp>
          <p:nvSpPr>
            <p:cNvPr id="589" name="Google Shape;589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GNSS Countermeasure Integration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91" name="Google Shape;591;p31"/>
          <p:cNvGrpSpPr/>
          <p:nvPr/>
        </p:nvGrpSpPr>
        <p:grpSpPr>
          <a:xfrm>
            <a:off x="571500" y="4238625"/>
            <a:ext cx="285900" cy="315110"/>
            <a:chOff x="0" y="0"/>
            <a:chExt cx="285900" cy="315110"/>
          </a:xfrm>
        </p:grpSpPr>
        <p:sp>
          <p:nvSpPr>
            <p:cNvPr id="592" name="Google Shape;592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extension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594" name="Google Shape;594;p31"/>
          <p:cNvGrpSpPr/>
          <p:nvPr/>
        </p:nvGrpSpPr>
        <p:grpSpPr>
          <a:xfrm>
            <a:off x="952500" y="4238625"/>
            <a:ext cx="4572000" cy="333300"/>
            <a:chOff x="0" y="0"/>
            <a:chExt cx="4572000" cy="333300"/>
          </a:xfrm>
        </p:grpSpPr>
        <p:sp>
          <p:nvSpPr>
            <p:cNvPr id="595" name="Google Shape;595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Plug-and-Play Architecture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97" name="Google Shape;597;p31"/>
          <p:cNvGrpSpPr/>
          <p:nvPr/>
        </p:nvGrpSpPr>
        <p:grpSpPr>
          <a:xfrm>
            <a:off x="571500" y="4714875"/>
            <a:ext cx="285900" cy="315110"/>
            <a:chOff x="0" y="0"/>
            <a:chExt cx="285900" cy="315110"/>
          </a:xfrm>
        </p:grpSpPr>
        <p:sp>
          <p:nvSpPr>
            <p:cNvPr id="598" name="Google Shape;598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600" name="Google Shape;600;p31"/>
          <p:cNvGrpSpPr/>
          <p:nvPr/>
        </p:nvGrpSpPr>
        <p:grpSpPr>
          <a:xfrm>
            <a:off x="952500" y="4714875"/>
            <a:ext cx="4572000" cy="333300"/>
            <a:chOff x="0" y="0"/>
            <a:chExt cx="4572000" cy="333300"/>
          </a:xfrm>
        </p:grpSpPr>
        <p:sp>
          <p:nvSpPr>
            <p:cNvPr id="601" name="Google Shape;601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Deployment &amp; Mission Configuration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03" name="Google Shape;603;p31"/>
          <p:cNvGrpSpPr/>
          <p:nvPr/>
        </p:nvGrpSpPr>
        <p:grpSpPr>
          <a:xfrm>
            <a:off x="571500" y="5191125"/>
            <a:ext cx="285900" cy="315110"/>
            <a:chOff x="0" y="0"/>
            <a:chExt cx="285900" cy="315110"/>
          </a:xfrm>
        </p:grpSpPr>
        <p:sp>
          <p:nvSpPr>
            <p:cNvPr id="604" name="Google Shape;604;p31"/>
            <p:cNvSpPr/>
            <p:nvPr/>
          </p:nvSpPr>
          <p:spPr>
            <a:xfrm>
              <a:off x="0" y="0"/>
              <a:ext cx="2859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31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layers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grpSp>
        <p:nvGrpSpPr>
          <p:cNvPr id="606" name="Google Shape;606;p31"/>
          <p:cNvGrpSpPr/>
          <p:nvPr/>
        </p:nvGrpSpPr>
        <p:grpSpPr>
          <a:xfrm>
            <a:off x="952500" y="5191125"/>
            <a:ext cx="4572000" cy="333300"/>
            <a:chOff x="0" y="0"/>
            <a:chExt cx="4572000" cy="333300"/>
          </a:xfrm>
        </p:grpSpPr>
        <p:sp>
          <p:nvSpPr>
            <p:cNvPr id="607" name="Google Shape;607;p31"/>
            <p:cNvSpPr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31"/>
            <p:cNvSpPr txBox="1"/>
            <p:nvPr/>
          </p:nvSpPr>
          <p:spPr>
            <a:xfrm>
              <a:off x="0" y="0"/>
              <a:ext cx="4572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Compatible with Layered Counter-UAS Operations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609" name="Google Shape;609;p31"/>
          <p:cNvSpPr/>
          <p:nvPr/>
        </p:nvSpPr>
        <p:spPr>
          <a:xfrm>
            <a:off x="9286875" y="5810250"/>
            <a:ext cx="2095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0" name="Google Shape;610;p31"/>
          <p:cNvGrpSpPr/>
          <p:nvPr/>
        </p:nvGrpSpPr>
        <p:grpSpPr>
          <a:xfrm>
            <a:off x="7362638" y="5991225"/>
            <a:ext cx="4748414" cy="762000"/>
            <a:chOff x="190518" y="142875"/>
            <a:chExt cx="4762702" cy="762000"/>
          </a:xfrm>
        </p:grpSpPr>
        <p:sp>
          <p:nvSpPr>
            <p:cNvPr id="611" name="Google Shape;611;p31"/>
            <p:cNvSpPr txBox="1"/>
            <p:nvPr/>
          </p:nvSpPr>
          <p:spPr>
            <a:xfrm>
              <a:off x="190518" y="142875"/>
              <a:ext cx="2422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  PRICE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22 - 50 Lakhs</a:t>
              </a:r>
              <a:endParaRPr b="1" sz="17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612" name="Google Shape;612;p31"/>
            <p:cNvSpPr txBox="1"/>
            <p:nvPr/>
          </p:nvSpPr>
          <p:spPr>
            <a:xfrm>
              <a:off x="3062020" y="142875"/>
              <a:ext cx="18912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3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65</a:t>
              </a:r>
              <a:r>
                <a:rPr b="1" lang="en-US" sz="17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 Days</a:t>
              </a:r>
              <a:endParaRPr b="1" sz="17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13" name="Google Shape;613;p31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1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2 GS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2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2"/>
          <p:cNvSpPr txBox="1"/>
          <p:nvPr/>
        </p:nvSpPr>
        <p:spPr>
          <a:xfrm>
            <a:off x="571500" y="1476375"/>
            <a:ext cx="4737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5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b="1" sz="205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5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Enables integration of future high-energy electromagnetic payloads, enhancing </a:t>
            </a:r>
            <a:r>
              <a:rPr lang="en-US" sz="15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PRAHAR NETRA </a:t>
            </a:r>
            <a:r>
              <a:rPr b="0" lang="en-US" sz="15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with next-generation non-kinetic Counter-UAS capabilities through a modular and upgradeable architecture.</a:t>
            </a:r>
            <a:endParaRPr b="0" sz="1550">
              <a:solidFill>
                <a:srgbClr val="33415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1" name="Google Shape;621;p32"/>
          <p:cNvSpPr txBox="1"/>
          <p:nvPr/>
        </p:nvSpPr>
        <p:spPr>
          <a:xfrm>
            <a:off x="714375" y="377406"/>
            <a:ext cx="1145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EMP Package</a:t>
            </a:r>
            <a:endParaRPr/>
          </a:p>
        </p:txBody>
      </p:sp>
      <p:sp>
        <p:nvSpPr>
          <p:cNvPr id="622" name="Google Shape;622;p32"/>
          <p:cNvSpPr txBox="1"/>
          <p:nvPr/>
        </p:nvSpPr>
        <p:spPr>
          <a:xfrm>
            <a:off x="571500" y="3095625"/>
            <a:ext cx="5238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Key Features</a:t>
            </a:r>
            <a:endParaRPr b="1" sz="1800">
              <a:solidFill>
                <a:srgbClr val="2563E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3" name="Google Shape;623;p32"/>
          <p:cNvSpPr/>
          <p:nvPr/>
        </p:nvSpPr>
        <p:spPr>
          <a:xfrm>
            <a:off x="571500" y="571500"/>
            <a:ext cx="5730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4" name="Google Shape;624;p32"/>
          <p:cNvGrpSpPr/>
          <p:nvPr/>
        </p:nvGrpSpPr>
        <p:grpSpPr>
          <a:xfrm>
            <a:off x="571500" y="3571875"/>
            <a:ext cx="5238900" cy="315110"/>
            <a:chOff x="0" y="0"/>
            <a:chExt cx="5238900" cy="315110"/>
          </a:xfrm>
        </p:grpSpPr>
        <p:sp>
          <p:nvSpPr>
            <p:cNvPr id="625" name="Google Shape;625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6" name="Google Shape;626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Future-Ready EMP Integration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27" name="Google Shape;627;p32"/>
          <p:cNvGrpSpPr/>
          <p:nvPr/>
        </p:nvGrpSpPr>
        <p:grpSpPr>
          <a:xfrm>
            <a:off x="571500" y="3952875"/>
            <a:ext cx="5238900" cy="315110"/>
            <a:chOff x="0" y="0"/>
            <a:chExt cx="5238900" cy="315110"/>
          </a:xfrm>
        </p:grpSpPr>
        <p:sp>
          <p:nvSpPr>
            <p:cNvPr id="628" name="Google Shape;628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power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29" name="Google Shape;629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Modular Mission Payload Interface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30" name="Google Shape;630;p32"/>
          <p:cNvGrpSpPr/>
          <p:nvPr/>
        </p:nvGrpSpPr>
        <p:grpSpPr>
          <a:xfrm>
            <a:off x="571500" y="4333875"/>
            <a:ext cx="5238900" cy="315110"/>
            <a:chOff x="0" y="0"/>
            <a:chExt cx="5238900" cy="315110"/>
          </a:xfrm>
        </p:grpSpPr>
        <p:sp>
          <p:nvSpPr>
            <p:cNvPr id="631" name="Google Shape;631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shield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32" name="Google Shape;632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Advanced Non-Kinetic Defence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33" name="Google Shape;633;p32"/>
          <p:cNvGrpSpPr/>
          <p:nvPr/>
        </p:nvGrpSpPr>
        <p:grpSpPr>
          <a:xfrm>
            <a:off x="571500" y="4714875"/>
            <a:ext cx="5238900" cy="315110"/>
            <a:chOff x="0" y="0"/>
            <a:chExt cx="5238900" cy="315110"/>
          </a:xfrm>
        </p:grpSpPr>
        <p:sp>
          <p:nvSpPr>
            <p:cNvPr id="634" name="Google Shape;634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developer_board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35" name="Google Shape;635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Scalable Power &amp; Control Architecture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36" name="Google Shape;636;p32"/>
          <p:cNvGrpSpPr/>
          <p:nvPr/>
        </p:nvGrpSpPr>
        <p:grpSpPr>
          <a:xfrm>
            <a:off x="571500" y="5095875"/>
            <a:ext cx="5238900" cy="315110"/>
            <a:chOff x="0" y="0"/>
            <a:chExt cx="5238900" cy="315110"/>
          </a:xfrm>
        </p:grpSpPr>
        <p:sp>
          <p:nvSpPr>
            <p:cNvPr id="637" name="Google Shape;637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38" name="Google Shape;638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Open System Design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39" name="Google Shape;639;p32"/>
          <p:cNvGrpSpPr/>
          <p:nvPr/>
        </p:nvGrpSpPr>
        <p:grpSpPr>
          <a:xfrm>
            <a:off x="571500" y="5476875"/>
            <a:ext cx="5238900" cy="315110"/>
            <a:chOff x="0" y="0"/>
            <a:chExt cx="5238900" cy="315110"/>
          </a:xfrm>
        </p:grpSpPr>
        <p:sp>
          <p:nvSpPr>
            <p:cNvPr id="640" name="Google Shape;640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1" name="Google Shape;641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Rapid Mission Configuration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642" name="Google Shape;642;p32"/>
          <p:cNvGrpSpPr/>
          <p:nvPr/>
        </p:nvGrpSpPr>
        <p:grpSpPr>
          <a:xfrm>
            <a:off x="571500" y="5857875"/>
            <a:ext cx="5238900" cy="315110"/>
            <a:chOff x="0" y="0"/>
            <a:chExt cx="5238900" cy="315110"/>
          </a:xfrm>
        </p:grpSpPr>
        <p:sp>
          <p:nvSpPr>
            <p:cNvPr id="643" name="Google Shape;643;p32"/>
            <p:cNvSpPr txBox="1"/>
            <p:nvPr/>
          </p:nvSpPr>
          <p:spPr>
            <a:xfrm>
              <a:off x="0" y="29210"/>
              <a:ext cx="285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upgrade</a:t>
              </a:r>
              <a:endParaRPr sz="20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644" name="Google Shape;644;p32"/>
            <p:cNvSpPr txBox="1"/>
            <p:nvPr/>
          </p:nvSpPr>
          <p:spPr>
            <a:xfrm>
              <a:off x="381000" y="0"/>
              <a:ext cx="4857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Upgradeable Capability Framework</a:t>
              </a:r>
              <a:endParaRPr b="1" sz="13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645" name="Google Shape;64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513" y="1033199"/>
            <a:ext cx="6270862" cy="417775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32"/>
          <p:cNvSpPr/>
          <p:nvPr/>
        </p:nvSpPr>
        <p:spPr>
          <a:xfrm>
            <a:off x="6191250" y="5715000"/>
            <a:ext cx="5429400" cy="762000"/>
          </a:xfrm>
          <a:prstGeom prst="roundRect">
            <a:avLst>
              <a:gd fmla="val 15000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47" name="Google Shape;647;p32"/>
          <p:cNvGrpSpPr/>
          <p:nvPr/>
        </p:nvGrpSpPr>
        <p:grpSpPr>
          <a:xfrm>
            <a:off x="6429375" y="5810250"/>
            <a:ext cx="2381400" cy="571500"/>
            <a:chOff x="0" y="0"/>
            <a:chExt cx="2381400" cy="571500"/>
          </a:xfrm>
        </p:grpSpPr>
        <p:sp>
          <p:nvSpPr>
            <p:cNvPr id="648" name="Google Shape;648;p32"/>
            <p:cNvSpPr/>
            <p:nvPr/>
          </p:nvSpPr>
          <p:spPr>
            <a:xfrm>
              <a:off x="0" y="0"/>
              <a:ext cx="23814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2"/>
            <p:cNvSpPr txBox="1"/>
            <p:nvPr/>
          </p:nvSpPr>
          <p:spPr>
            <a:xfrm>
              <a:off x="0" y="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PRICE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2563EB"/>
                  </a:solidFill>
                  <a:latin typeface="Poppins"/>
                  <a:ea typeface="Poppins"/>
                  <a:cs typeface="Poppins"/>
                  <a:sym typeface="Poppins"/>
                </a:rPr>
                <a:t>₹ –</a:t>
              </a:r>
              <a:endParaRPr b="1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650" name="Google Shape;650;p32"/>
          <p:cNvGrpSpPr/>
          <p:nvPr/>
        </p:nvGrpSpPr>
        <p:grpSpPr>
          <a:xfrm>
            <a:off x="9286875" y="5810250"/>
            <a:ext cx="2095500" cy="571500"/>
            <a:chOff x="0" y="0"/>
            <a:chExt cx="2095500" cy="571500"/>
          </a:xfrm>
        </p:grpSpPr>
        <p:sp>
          <p:nvSpPr>
            <p:cNvPr id="651" name="Google Shape;651;p32"/>
            <p:cNvSpPr/>
            <p:nvPr/>
          </p:nvSpPr>
          <p:spPr>
            <a:xfrm>
              <a:off x="0" y="0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32"/>
            <p:cNvSpPr txBox="1"/>
            <p:nvPr/>
          </p:nvSpPr>
          <p:spPr>
            <a:xfrm>
              <a:off x="0" y="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LEAD TIME</a:t>
              </a:r>
              <a:endParaRPr b="1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F172A"/>
                  </a:solidFill>
                  <a:latin typeface="Poppins"/>
                  <a:ea typeface="Poppins"/>
                  <a:cs typeface="Poppins"/>
                  <a:sym typeface="Poppins"/>
                </a:rPr>
                <a:t>–</a:t>
              </a:r>
              <a:endParaRPr b="1" sz="18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53" name="Google Shape;653;p32"/>
          <p:cNvSpPr/>
          <p:nvPr/>
        </p:nvSpPr>
        <p:spPr>
          <a:xfrm>
            <a:off x="571500" y="414321"/>
            <a:ext cx="57300" cy="762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2"/>
          <p:cNvSpPr txBox="1"/>
          <p:nvPr/>
        </p:nvSpPr>
        <p:spPr>
          <a:xfrm>
            <a:off x="628650" y="8083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PRAHAR NETRA 2 EMP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9" name="Google Shape;6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0" name="Google Shape;6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1" name="Google Shape;661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300287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2" name="Google Shape;66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3" name="Google Shape;663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33875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64" name="Google Shape;66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0" y="4005262"/>
            <a:ext cx="3524250" cy="14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33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3"/>
          <p:cNvSpPr txBox="1"/>
          <p:nvPr/>
        </p:nvSpPr>
        <p:spPr>
          <a:xfrm>
            <a:off x="714375" y="571500"/>
            <a:ext cx="7143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Why </a:t>
            </a: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PRAHAR NETRA ?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7" name="Google Shape;667;p3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3"/>
          <p:cNvSpPr txBox="1"/>
          <p:nvPr/>
        </p:nvSpPr>
        <p:spPr>
          <a:xfrm>
            <a:off x="1033462" y="3109912"/>
            <a:ext cx="26003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Indigenous Technology</a:t>
            </a:r>
            <a:endParaRPr/>
          </a:p>
        </p:txBody>
      </p:sp>
      <p:sp>
        <p:nvSpPr>
          <p:cNvPr id="669" name="Google Shape;669;p33"/>
          <p:cNvSpPr txBox="1"/>
          <p:nvPr/>
        </p:nvSpPr>
        <p:spPr>
          <a:xfrm>
            <a:off x="5480923" y="3109912"/>
            <a:ext cx="123015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AI Powered</a:t>
            </a:r>
            <a:endParaRPr/>
          </a:p>
        </p:txBody>
      </p:sp>
      <p:sp>
        <p:nvSpPr>
          <p:cNvPr id="670" name="Google Shape;670;p33"/>
          <p:cNvSpPr txBox="1"/>
          <p:nvPr/>
        </p:nvSpPr>
        <p:spPr>
          <a:xfrm>
            <a:off x="9393316" y="3109912"/>
            <a:ext cx="9301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Modular</a:t>
            </a:r>
            <a:endParaRPr/>
          </a:p>
        </p:txBody>
      </p:sp>
      <p:sp>
        <p:nvSpPr>
          <p:cNvPr id="671" name="Google Shape;671;p33"/>
          <p:cNvSpPr txBox="1"/>
          <p:nvPr/>
        </p:nvSpPr>
        <p:spPr>
          <a:xfrm>
            <a:off x="1278493" y="4814887"/>
            <a:ext cx="2110263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Layered Protection</a:t>
            </a:r>
            <a:endParaRPr/>
          </a:p>
        </p:txBody>
      </p:sp>
      <p:sp>
        <p:nvSpPr>
          <p:cNvPr id="672" name="Google Shape;672;p33"/>
          <p:cNvSpPr txBox="1"/>
          <p:nvPr/>
        </p:nvSpPr>
        <p:spPr>
          <a:xfrm>
            <a:off x="5230891" y="4814887"/>
            <a:ext cx="1730216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Upgrade Ready</a:t>
            </a:r>
            <a:endParaRPr/>
          </a:p>
        </p:txBody>
      </p:sp>
      <p:sp>
        <p:nvSpPr>
          <p:cNvPr id="673" name="Google Shape;673;p33"/>
          <p:cNvSpPr txBox="1"/>
          <p:nvPr/>
        </p:nvSpPr>
        <p:spPr>
          <a:xfrm>
            <a:off x="8823245" y="4814887"/>
            <a:ext cx="2070258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Rapid Deployment</a:t>
            </a:r>
            <a:endParaRPr/>
          </a:p>
        </p:txBody>
      </p:sp>
      <p:pic>
        <p:nvPicPr>
          <p:cNvPr descr="image.png" id="674" name="Google Shape;674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81225" y="2595562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5" name="Google Shape;675;p3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924550" y="25955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6" name="Google Shape;676;p3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63112" y="2595562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7" name="Google Shape;677;p3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62175" y="4300537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8" name="Google Shape;678;p3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900737" y="43005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9" name="Google Shape;679;p3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644062" y="4300537"/>
            <a:ext cx="428625" cy="34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34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34"/>
          <p:cNvSpPr txBox="1"/>
          <p:nvPr/>
        </p:nvSpPr>
        <p:spPr>
          <a:xfrm>
            <a:off x="425250" y="585100"/>
            <a:ext cx="4391700" cy="52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Autonomous Airspace Security</a:t>
            </a:r>
            <a:endParaRPr b="1" sz="1300">
              <a:solidFill>
                <a:srgbClr val="334155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5500">
                <a:solidFill>
                  <a:srgbClr val="2563EB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PRAHAR NETRA</a:t>
            </a:r>
            <a:r>
              <a:rPr lang="en-US" sz="720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 </a:t>
            </a:r>
            <a:endParaRPr sz="72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AI-Powered Counter-UAS Platform Family</a:t>
            </a:r>
            <a:endParaRPr b="0" sz="2400">
              <a:solidFill>
                <a:srgbClr val="1E293B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Designed &amp; Developed By</a:t>
            </a:r>
            <a:endParaRPr b="1" sz="1100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ANMAY DEFENCE</a:t>
            </a:r>
            <a:endParaRPr b="0" sz="22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Engineering the Future of Autonomous Airspace Security</a:t>
            </a:r>
            <a:endParaRPr sz="15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2200">
              <a:solidFill>
                <a:srgbClr val="0F172A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686" name="Google Shape;686;p34"/>
          <p:cNvSpPr txBox="1"/>
          <p:nvPr/>
        </p:nvSpPr>
        <p:spPr>
          <a:xfrm>
            <a:off x="425250" y="6129975"/>
            <a:ext cx="11341500" cy="57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phone </a:t>
            </a:r>
            <a:r>
              <a:rPr b="1" lang="en-US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+91 8828959943</a:t>
            </a:r>
            <a:r>
              <a:rPr b="0" lang="en-US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|						</a:t>
            </a:r>
            <a:r>
              <a:rPr b="0" lang="en-US" sz="1700" u="sng">
                <a:solidFill>
                  <a:schemeClr val="hlink"/>
                </a:solidFill>
                <a:latin typeface="Material Icons"/>
                <a:ea typeface="Material Icons"/>
                <a:cs typeface="Material Icons"/>
                <a:sym typeface="Material Icons"/>
                <a:hlinkClick r:id="rId4"/>
              </a:rPr>
              <a:t>email</a:t>
            </a:r>
            <a:r>
              <a:rPr b="1" lang="en-US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ANMAYDEFENCE@GMAIL.COM</a:t>
            </a:r>
            <a:r>
              <a:rPr b="0" lang="en-US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|						</a:t>
            </a:r>
            <a:r>
              <a:rPr b="0" lang="en-US" sz="17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place</a:t>
            </a:r>
            <a:r>
              <a:rPr b="1" lang="en-US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MUMBAI, INDIA</a:t>
            </a:r>
            <a:endParaRPr b="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7" name="Google Shape;687;p34" title="Gemini_Generated_Image_shb3mzshb3mzshb3.png"/>
          <p:cNvPicPr preferRelativeResize="0"/>
          <p:nvPr/>
        </p:nvPicPr>
        <p:blipFill rotWithShape="1">
          <a:blip r:embed="rId6">
            <a:alphaModFix/>
          </a:blip>
          <a:srcRect b="0" l="0" r="12034" t="0"/>
          <a:stretch/>
        </p:blipFill>
        <p:spPr>
          <a:xfrm>
            <a:off x="5054850" y="585075"/>
            <a:ext cx="6940549" cy="4927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